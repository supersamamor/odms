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616B3-8A2E-29F4-F0AB-A736DE7D9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816A84-A9C0-CB6B-C01E-F2AABC69E4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x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bx"/>
          <p:cNvSpPr>
            <a:spLocks noGrp="1"/>
          </p:cNvSpPr>
          <p:nvPr/>
        </p:nvSpPr>
        <p:spPr>
          <a:xfrm>
            <a:off x="0" y="4160520"/>
            <a:ext cx="12192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c"/>
          <p:cNvSpPr>
            <a:spLocks noGrp="1"/>
          </p:cNvSpPr>
          <p:nvPr/>
        </p:nvSpPr>
        <p:spPr>
          <a:xfrm>
            <a:off x="822960" y="960120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c"/>
          <p:cNvSpPr>
            <a:spLocks noGrp="1"/>
          </p:cNvSpPr>
          <p:nvPr/>
        </p:nvSpPr>
        <p:spPr>
          <a:xfrm>
            <a:off x="1024128" y="960120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c"/>
          <p:cNvSpPr>
            <a:spLocks noGrp="1"/>
          </p:cNvSpPr>
          <p:nvPr/>
        </p:nvSpPr>
        <p:spPr>
          <a:xfrm>
            <a:off x="1225296" y="960120"/>
            <a:ext cx="146304" cy="14630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tx"/>
          <p:cNvSpPr>
            <a:spLocks noGrp="1"/>
          </p:cNvSpPr>
          <p:nvPr/>
        </p:nvSpPr>
        <p:spPr>
          <a:xfrm>
            <a:off x="822960" y="1234440"/>
            <a:ext cx="8229600" cy="36576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300" b="1" i="0" dirty="0">
                <a:solidFill>
                  <a:srgbClr val="93C5FD"/>
                </a:solidFill>
                <a:latin typeface="Calibri"/>
              </a:rPr>
              <a:t>ONE DELIVERY MANAGEMENT SYSTEM  ·  ODMS</a:t>
            </a:r>
          </a:p>
        </p:txBody>
      </p:sp>
      <p:sp>
        <p:nvSpPr>
          <p:cNvPr id="8" name="tx"/>
          <p:cNvSpPr>
            <a:spLocks noGrp="1"/>
          </p:cNvSpPr>
          <p:nvPr/>
        </p:nvSpPr>
        <p:spPr>
          <a:xfrm>
            <a:off x="822960" y="1737360"/>
            <a:ext cx="10424160" cy="201168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lang="en-US" sz="4600" b="1" i="0" dirty="0">
                <a:solidFill>
                  <a:srgbClr val="FFFFFF"/>
                </a:solidFill>
                <a:latin typeface="Cambria"/>
              </a:rPr>
              <a:t>Delivery Governance &amp;</a:t>
            </a:r>
          </a:p>
          <a:p>
            <a:pPr algn="l"/>
            <a:r>
              <a:rPr lang="en-US" sz="4600" b="1" i="0" dirty="0">
                <a:solidFill>
                  <a:srgbClr val="FFFFFF"/>
                </a:solidFill>
                <a:latin typeface="Cambria"/>
              </a:rPr>
              <a:t>Weekly Status Reporting</a:t>
            </a:r>
          </a:p>
        </p:txBody>
      </p:sp>
      <p:sp>
        <p:nvSpPr>
          <p:cNvPr id="9" name="tx"/>
          <p:cNvSpPr>
            <a:spLocks noGrp="1"/>
          </p:cNvSpPr>
          <p:nvPr/>
        </p:nvSpPr>
        <p:spPr>
          <a:xfrm>
            <a:off x="822960" y="4343400"/>
            <a:ext cx="10058400" cy="54864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500" b="0" i="1" dirty="0">
                <a:solidFill>
                  <a:srgbClr val="CBD5E1"/>
                </a:solidFill>
                <a:latin typeface="Calibri"/>
              </a:rPr>
              <a:t>A practical guide for Project Managers — how to report, what good looks like, and the guardrails that keep delivery on track.</a:t>
            </a:r>
          </a:p>
        </p:txBody>
      </p:sp>
      <p:sp>
        <p:nvSpPr>
          <p:cNvPr id="10" name="tx"/>
          <p:cNvSpPr>
            <a:spLocks noGrp="1"/>
          </p:cNvSpPr>
          <p:nvPr/>
        </p:nvSpPr>
        <p:spPr>
          <a:xfrm>
            <a:off x="822960" y="5806440"/>
            <a:ext cx="10058400" cy="36576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200" b="1" i="0" dirty="0">
                <a:solidFill>
                  <a:srgbClr val="64748B"/>
                </a:solidFill>
                <a:latin typeface="Calibri"/>
              </a:rPr>
              <a:t>FBSC  ·  Filinvest Business Solutions Corp.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x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c"/>
          <p:cNvSpPr>
            <a:spLocks noGrp="1"/>
          </p:cNvSpPr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c"/>
          <p:cNvSpPr>
            <a:spLocks noGrp="1"/>
          </p:cNvSpPr>
          <p:nvPr/>
        </p:nvSpPr>
        <p:spPr>
          <a:xfrm>
            <a:off x="841248" y="566928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c"/>
          <p:cNvSpPr>
            <a:spLocks noGrp="1"/>
          </p:cNvSpPr>
          <p:nvPr/>
        </p:nvSpPr>
        <p:spPr>
          <a:xfrm>
            <a:off x="1042416" y="566928"/>
            <a:ext cx="146304" cy="14630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tx"/>
          <p:cNvSpPr>
            <a:spLocks noGrp="1"/>
          </p:cNvSpPr>
          <p:nvPr/>
        </p:nvSpPr>
        <p:spPr>
          <a:xfrm>
            <a:off x="1097280" y="457200"/>
            <a:ext cx="10058400" cy="32004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200" b="1" i="0" dirty="0">
                <a:solidFill>
                  <a:srgbClr val="2563EB"/>
                </a:solidFill>
                <a:latin typeface="Calibri"/>
              </a:rPr>
              <a:t>WHY IT MATTERS</a:t>
            </a:r>
          </a:p>
        </p:txBody>
      </p:sp>
      <p:sp>
        <p:nvSpPr>
          <p:cNvPr id="7" name="tx"/>
          <p:cNvSpPr>
            <a:spLocks noGrp="1"/>
          </p:cNvSpPr>
          <p:nvPr/>
        </p:nvSpPr>
        <p:spPr>
          <a:xfrm>
            <a:off x="640080" y="777240"/>
            <a:ext cx="10972800" cy="82296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3000" b="1" i="0" dirty="0">
                <a:solidFill>
                  <a:srgbClr val="0F172A"/>
                </a:solidFill>
                <a:latin typeface="Cambria"/>
              </a:rPr>
              <a:t>What ODMS gives a Project Manager</a:t>
            </a:r>
          </a:p>
        </p:txBody>
      </p:sp>
      <p:sp>
        <p:nvSpPr>
          <p:cNvPr id="8" name="bx"/>
          <p:cNvSpPr>
            <a:spLocks noGrp="1"/>
          </p:cNvSpPr>
          <p:nvPr/>
        </p:nvSpPr>
        <p:spPr>
          <a:xfrm>
            <a:off x="640080" y="1874519"/>
            <a:ext cx="5166360" cy="187451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c"/>
          <p:cNvSpPr>
            <a:spLocks noGrp="1"/>
          </p:cNvSpPr>
          <p:nvPr/>
        </p:nvSpPr>
        <p:spPr>
          <a:xfrm>
            <a:off x="914400" y="2148839"/>
            <a:ext cx="502920" cy="502920"/>
          </a:xfrm>
          <a:prstGeom prst="ellipse">
            <a:avLst/>
          </a:prstGeom>
          <a:solidFill>
            <a:srgbClr val="E8ED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tx"/>
          <p:cNvSpPr>
            <a:spLocks noGrp="1"/>
          </p:cNvSpPr>
          <p:nvPr/>
        </p:nvSpPr>
        <p:spPr>
          <a:xfrm>
            <a:off x="914400" y="2148839"/>
            <a:ext cx="502920" cy="50292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/>
            <a:r>
              <a:rPr lang="en-US" sz="1600" b="1" i="0" dirty="0">
                <a:solidFill>
                  <a:srgbClr val="2563EB"/>
                </a:solidFill>
                <a:latin typeface="Calibri"/>
              </a:rPr>
              <a:t>1</a:t>
            </a:r>
          </a:p>
        </p:txBody>
      </p:sp>
      <p:sp>
        <p:nvSpPr>
          <p:cNvPr id="11" name="tx"/>
          <p:cNvSpPr>
            <a:spLocks noGrp="1"/>
          </p:cNvSpPr>
          <p:nvPr/>
        </p:nvSpPr>
        <p:spPr>
          <a:xfrm>
            <a:off x="1600200" y="2148839"/>
            <a:ext cx="3931920" cy="4572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700" b="1" i="0" dirty="0">
                <a:solidFill>
                  <a:srgbClr val="0F172A"/>
                </a:solidFill>
                <a:latin typeface="Cambria"/>
              </a:rPr>
              <a:t>One source of truth</a:t>
            </a:r>
          </a:p>
        </p:txBody>
      </p:sp>
      <p:sp>
        <p:nvSpPr>
          <p:cNvPr id="12" name="tx"/>
          <p:cNvSpPr>
            <a:spLocks noGrp="1"/>
          </p:cNvSpPr>
          <p:nvPr/>
        </p:nvSpPr>
        <p:spPr>
          <a:xfrm>
            <a:off x="1600200" y="2651759"/>
            <a:ext cx="3931920" cy="914399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475569"/>
                </a:solidFill>
                <a:latin typeface="Calibri"/>
              </a:rPr>
              <a:t>Every project's health, milestones, risks and budget in one place — no scattered trackers or slide decks.</a:t>
            </a:r>
          </a:p>
        </p:txBody>
      </p:sp>
      <p:sp>
        <p:nvSpPr>
          <p:cNvPr id="13" name="bx"/>
          <p:cNvSpPr>
            <a:spLocks noGrp="1"/>
          </p:cNvSpPr>
          <p:nvPr/>
        </p:nvSpPr>
        <p:spPr>
          <a:xfrm>
            <a:off x="6126480" y="1874519"/>
            <a:ext cx="5166360" cy="187451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c"/>
          <p:cNvSpPr>
            <a:spLocks noGrp="1"/>
          </p:cNvSpPr>
          <p:nvPr/>
        </p:nvSpPr>
        <p:spPr>
          <a:xfrm>
            <a:off x="6400800" y="2148839"/>
            <a:ext cx="502920" cy="502920"/>
          </a:xfrm>
          <a:prstGeom prst="ellipse">
            <a:avLst/>
          </a:prstGeom>
          <a:solidFill>
            <a:srgbClr val="E8ED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tx"/>
          <p:cNvSpPr>
            <a:spLocks noGrp="1"/>
          </p:cNvSpPr>
          <p:nvPr/>
        </p:nvSpPr>
        <p:spPr>
          <a:xfrm>
            <a:off x="6400800" y="2148839"/>
            <a:ext cx="502920" cy="50292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/>
            <a:r>
              <a:rPr lang="en-US" sz="1600" b="1" i="0" dirty="0">
                <a:solidFill>
                  <a:srgbClr val="2563EB"/>
                </a:solidFill>
                <a:latin typeface="Calibri"/>
              </a:rPr>
              <a:t>2</a:t>
            </a:r>
          </a:p>
        </p:txBody>
      </p:sp>
      <p:sp>
        <p:nvSpPr>
          <p:cNvPr id="16" name="tx"/>
          <p:cNvSpPr>
            <a:spLocks noGrp="1"/>
          </p:cNvSpPr>
          <p:nvPr/>
        </p:nvSpPr>
        <p:spPr>
          <a:xfrm>
            <a:off x="7086600" y="2148839"/>
            <a:ext cx="3931920" cy="4572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700" b="1" i="0" dirty="0">
                <a:solidFill>
                  <a:srgbClr val="0F172A"/>
                </a:solidFill>
                <a:latin typeface="Cambria"/>
              </a:rPr>
              <a:t>A weekly rhythm</a:t>
            </a:r>
          </a:p>
        </p:txBody>
      </p:sp>
      <p:sp>
        <p:nvSpPr>
          <p:cNvPr id="17" name="tx"/>
          <p:cNvSpPr>
            <a:spLocks noGrp="1"/>
          </p:cNvSpPr>
          <p:nvPr/>
        </p:nvSpPr>
        <p:spPr>
          <a:xfrm>
            <a:off x="7086600" y="2651759"/>
            <a:ext cx="3931920" cy="914399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475569"/>
                </a:solidFill>
                <a:latin typeface="Calibri"/>
              </a:rPr>
              <a:t>A single, predictable cadence: file once a week, and the portfolio view updates itself.</a:t>
            </a:r>
          </a:p>
        </p:txBody>
      </p:sp>
      <p:sp>
        <p:nvSpPr>
          <p:cNvPr id="18" name="bx"/>
          <p:cNvSpPr>
            <a:spLocks noGrp="1"/>
          </p:cNvSpPr>
          <p:nvPr/>
        </p:nvSpPr>
        <p:spPr>
          <a:xfrm>
            <a:off x="640080" y="4023358"/>
            <a:ext cx="5166360" cy="187451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c"/>
          <p:cNvSpPr>
            <a:spLocks noGrp="1"/>
          </p:cNvSpPr>
          <p:nvPr/>
        </p:nvSpPr>
        <p:spPr>
          <a:xfrm>
            <a:off x="914400" y="4297678"/>
            <a:ext cx="502920" cy="502920"/>
          </a:xfrm>
          <a:prstGeom prst="ellipse">
            <a:avLst/>
          </a:prstGeom>
          <a:solidFill>
            <a:srgbClr val="E8ED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tx"/>
          <p:cNvSpPr>
            <a:spLocks noGrp="1"/>
          </p:cNvSpPr>
          <p:nvPr/>
        </p:nvSpPr>
        <p:spPr>
          <a:xfrm>
            <a:off x="914400" y="4297678"/>
            <a:ext cx="502920" cy="50292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/>
            <a:r>
              <a:rPr lang="en-US" sz="1600" b="1" i="0" dirty="0">
                <a:solidFill>
                  <a:srgbClr val="2563EB"/>
                </a:solidFill>
                <a:latin typeface="Calibri"/>
              </a:rPr>
              <a:t>3</a:t>
            </a:r>
          </a:p>
        </p:txBody>
      </p:sp>
      <p:sp>
        <p:nvSpPr>
          <p:cNvPr id="21" name="tx"/>
          <p:cNvSpPr>
            <a:spLocks noGrp="1"/>
          </p:cNvSpPr>
          <p:nvPr/>
        </p:nvSpPr>
        <p:spPr>
          <a:xfrm>
            <a:off x="1600200" y="4297678"/>
            <a:ext cx="3931920" cy="4572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700" b="1" i="0" dirty="0">
                <a:solidFill>
                  <a:srgbClr val="0F172A"/>
                </a:solidFill>
                <a:latin typeface="Cambria"/>
              </a:rPr>
              <a:t>RAG visibility</a:t>
            </a:r>
          </a:p>
        </p:txBody>
      </p:sp>
      <p:sp>
        <p:nvSpPr>
          <p:cNvPr id="22" name="tx"/>
          <p:cNvSpPr>
            <a:spLocks noGrp="1"/>
          </p:cNvSpPr>
          <p:nvPr/>
        </p:nvSpPr>
        <p:spPr>
          <a:xfrm>
            <a:off x="1600200" y="4800598"/>
            <a:ext cx="3931920" cy="914399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475569"/>
                </a:solidFill>
                <a:latin typeface="Calibri"/>
              </a:rPr>
              <a:t>Your status rolls up to Green / Amber / Red the moment you submit — leadership sees the same picture you do.</a:t>
            </a:r>
          </a:p>
        </p:txBody>
      </p:sp>
      <p:sp>
        <p:nvSpPr>
          <p:cNvPr id="23" name="bx"/>
          <p:cNvSpPr>
            <a:spLocks noGrp="1"/>
          </p:cNvSpPr>
          <p:nvPr/>
        </p:nvSpPr>
        <p:spPr>
          <a:xfrm>
            <a:off x="6126480" y="4023358"/>
            <a:ext cx="5166360" cy="187451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c"/>
          <p:cNvSpPr>
            <a:spLocks noGrp="1"/>
          </p:cNvSpPr>
          <p:nvPr/>
        </p:nvSpPr>
        <p:spPr>
          <a:xfrm>
            <a:off x="6400800" y="4297678"/>
            <a:ext cx="502920" cy="502920"/>
          </a:xfrm>
          <a:prstGeom prst="ellipse">
            <a:avLst/>
          </a:prstGeom>
          <a:solidFill>
            <a:srgbClr val="E8ED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tx"/>
          <p:cNvSpPr>
            <a:spLocks noGrp="1"/>
          </p:cNvSpPr>
          <p:nvPr/>
        </p:nvSpPr>
        <p:spPr>
          <a:xfrm>
            <a:off x="6400800" y="4297678"/>
            <a:ext cx="502920" cy="50292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/>
            <a:r>
              <a:rPr lang="en-US" sz="1600" b="1" i="0" dirty="0">
                <a:solidFill>
                  <a:srgbClr val="2563EB"/>
                </a:solidFill>
                <a:latin typeface="Calibri"/>
              </a:rPr>
              <a:t>4</a:t>
            </a:r>
          </a:p>
        </p:txBody>
      </p:sp>
      <p:sp>
        <p:nvSpPr>
          <p:cNvPr id="26" name="tx"/>
          <p:cNvSpPr>
            <a:spLocks noGrp="1"/>
          </p:cNvSpPr>
          <p:nvPr/>
        </p:nvSpPr>
        <p:spPr>
          <a:xfrm>
            <a:off x="7086600" y="4297678"/>
            <a:ext cx="3931920" cy="4572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700" b="1" i="0" dirty="0">
                <a:solidFill>
                  <a:srgbClr val="0F172A"/>
                </a:solidFill>
                <a:latin typeface="Cambria"/>
              </a:rPr>
              <a:t>Governance built in</a:t>
            </a:r>
          </a:p>
        </p:txBody>
      </p:sp>
      <p:sp>
        <p:nvSpPr>
          <p:cNvPr id="27" name="tx"/>
          <p:cNvSpPr>
            <a:spLocks noGrp="1"/>
          </p:cNvSpPr>
          <p:nvPr/>
        </p:nvSpPr>
        <p:spPr>
          <a:xfrm>
            <a:off x="7086600" y="4800598"/>
            <a:ext cx="3931920" cy="914399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475569"/>
                </a:solidFill>
                <a:latin typeface="Calibri"/>
              </a:rPr>
              <a:t>Reports route for approval, compliance is tracked, and stakeholders get an automatic weekly summary.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x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c"/>
          <p:cNvSpPr>
            <a:spLocks noGrp="1"/>
          </p:cNvSpPr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c"/>
          <p:cNvSpPr>
            <a:spLocks noGrp="1"/>
          </p:cNvSpPr>
          <p:nvPr/>
        </p:nvSpPr>
        <p:spPr>
          <a:xfrm>
            <a:off x="841248" y="566928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c"/>
          <p:cNvSpPr>
            <a:spLocks noGrp="1"/>
          </p:cNvSpPr>
          <p:nvPr/>
        </p:nvSpPr>
        <p:spPr>
          <a:xfrm>
            <a:off x="1042416" y="566928"/>
            <a:ext cx="146304" cy="14630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tx"/>
          <p:cNvSpPr>
            <a:spLocks noGrp="1"/>
          </p:cNvSpPr>
          <p:nvPr/>
        </p:nvSpPr>
        <p:spPr>
          <a:xfrm>
            <a:off x="1097280" y="457200"/>
            <a:ext cx="10058400" cy="32004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200" b="1" i="0" dirty="0">
                <a:solidFill>
                  <a:srgbClr val="2563EB"/>
                </a:solidFill>
                <a:latin typeface="Calibri"/>
              </a:rPr>
              <a:t>WHO DOES WHAT</a:t>
            </a:r>
          </a:p>
        </p:txBody>
      </p:sp>
      <p:sp>
        <p:nvSpPr>
          <p:cNvPr id="7" name="tx"/>
          <p:cNvSpPr>
            <a:spLocks noGrp="1"/>
          </p:cNvSpPr>
          <p:nvPr/>
        </p:nvSpPr>
        <p:spPr>
          <a:xfrm>
            <a:off x="640080" y="777240"/>
            <a:ext cx="10972800" cy="82296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3000" b="1" i="0" dirty="0">
                <a:solidFill>
                  <a:srgbClr val="0F172A"/>
                </a:solidFill>
                <a:latin typeface="Cambria"/>
              </a:rPr>
              <a:t>Roles around the report (you are the PM)</a:t>
            </a:r>
          </a:p>
        </p:txBody>
      </p:sp>
      <p:sp>
        <p:nvSpPr>
          <p:cNvPr id="8" name="bx"/>
          <p:cNvSpPr>
            <a:spLocks noGrp="1"/>
          </p:cNvSpPr>
          <p:nvPr/>
        </p:nvSpPr>
        <p:spPr>
          <a:xfrm>
            <a:off x="640080" y="1874519"/>
            <a:ext cx="4846320" cy="3977639"/>
          </a:xfrm>
          <a:prstGeom prst="roundRect">
            <a:avLst/>
          </a:prstGeom>
          <a:solidFill>
            <a:srgbClr val="0F172A"/>
          </a:solidFill>
          <a:ln>
            <a:noFill/>
          </a:ln>
          <a:effectLst>
            <a:outerShdw blurRad="76200" dist="25400" dir="5400000">
              <a:srgbClr val="0F172A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c"/>
          <p:cNvSpPr>
            <a:spLocks noGrp="1"/>
          </p:cNvSpPr>
          <p:nvPr/>
        </p:nvSpPr>
        <p:spPr>
          <a:xfrm>
            <a:off x="914400" y="2148840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tx"/>
          <p:cNvSpPr>
            <a:spLocks noGrp="1"/>
          </p:cNvSpPr>
          <p:nvPr/>
        </p:nvSpPr>
        <p:spPr>
          <a:xfrm>
            <a:off x="914400" y="2148840"/>
            <a:ext cx="640080" cy="64008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/>
            <a:r>
              <a:rPr lang="en-US" sz="1500" b="1" i="0" dirty="0">
                <a:solidFill>
                  <a:srgbClr val="FFFFFF"/>
                </a:solidFill>
                <a:latin typeface="Calibri"/>
              </a:rPr>
              <a:t>PM</a:t>
            </a:r>
          </a:p>
        </p:txBody>
      </p:sp>
      <p:sp>
        <p:nvSpPr>
          <p:cNvPr id="11" name="tx"/>
          <p:cNvSpPr>
            <a:spLocks noGrp="1"/>
          </p:cNvSpPr>
          <p:nvPr/>
        </p:nvSpPr>
        <p:spPr>
          <a:xfrm>
            <a:off x="1691640" y="2194560"/>
            <a:ext cx="3657600" cy="54864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FFFFFF"/>
                </a:solidFill>
                <a:latin typeface="Cambria"/>
              </a:rPr>
              <a:t>Project Manager</a:t>
            </a:r>
          </a:p>
        </p:txBody>
      </p:sp>
      <p:sp>
        <p:nvSpPr>
          <p:cNvPr id="12" name="tx"/>
          <p:cNvSpPr>
            <a:spLocks noGrp="1"/>
          </p:cNvSpPr>
          <p:nvPr/>
        </p:nvSpPr>
        <p:spPr>
          <a:xfrm>
            <a:off x="914400" y="2971800"/>
            <a:ext cx="4297680" cy="27432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256032" indent="-256032">
              <a:spcAft>
                <a:spcPts val="700"/>
              </a:spcAft>
              <a:buClr>
                <a:srgbClr val="FBBF24"/>
              </a:buClr>
              <a:buChar char="●"/>
            </a:pPr>
            <a:r>
              <a:rPr lang="en-US" sz="1350" b="0" i="0" dirty="0">
                <a:solidFill>
                  <a:srgbClr val="E2E8F0"/>
                </a:solidFill>
                <a:latin typeface="Calibri"/>
              </a:rPr>
              <a:t>Files the weekly status report for each project</a:t>
            </a:r>
          </a:p>
          <a:p>
            <a:pPr marL="256032" indent="-256032">
              <a:spcAft>
                <a:spcPts val="700"/>
              </a:spcAft>
              <a:buClr>
                <a:srgbClr val="FBBF24"/>
              </a:buClr>
              <a:buChar char="●"/>
            </a:pPr>
            <a:r>
              <a:rPr lang="en-US" sz="1350" b="0" i="0" dirty="0">
                <a:solidFill>
                  <a:srgbClr val="E2E8F0"/>
                </a:solidFill>
                <a:latin typeface="Calibri"/>
              </a:rPr>
              <a:t>Sets the six health indicators &amp; comments</a:t>
            </a:r>
          </a:p>
          <a:p>
            <a:pPr marL="256032" indent="-256032">
              <a:spcAft>
                <a:spcPts val="700"/>
              </a:spcAft>
              <a:buClr>
                <a:srgbClr val="FBBF24"/>
              </a:buClr>
              <a:buChar char="●"/>
            </a:pPr>
            <a:r>
              <a:rPr lang="en-US" sz="1350" b="0" i="0" dirty="0">
                <a:solidFill>
                  <a:srgbClr val="E2E8F0"/>
                </a:solidFill>
                <a:latin typeface="Calibri"/>
              </a:rPr>
              <a:t>Keeps milestones, risks and budget current</a:t>
            </a:r>
          </a:p>
          <a:p>
            <a:pPr marL="256032" indent="-256032">
              <a:spcAft>
                <a:spcPts val="700"/>
              </a:spcAft>
              <a:buClr>
                <a:srgbClr val="FBBF24"/>
              </a:buClr>
              <a:buChar char="●"/>
            </a:pPr>
            <a:r>
              <a:rPr lang="en-US" sz="1350" b="0" i="0" dirty="0">
                <a:solidFill>
                  <a:srgbClr val="E2E8F0"/>
                </a:solidFill>
                <a:latin typeface="Calibri"/>
              </a:rPr>
              <a:t>Acts on 'changes requested', re-submits</a:t>
            </a:r>
          </a:p>
          <a:p>
            <a:pPr marL="256032" indent="-256032">
              <a:spcAft>
                <a:spcPts val="0"/>
              </a:spcAft>
              <a:buClr>
                <a:srgbClr val="FBBF24"/>
              </a:buClr>
              <a:buChar char="●"/>
            </a:pPr>
            <a:r>
              <a:rPr lang="en-US" sz="1350" b="0" i="0" dirty="0">
                <a:solidFill>
                  <a:srgbClr val="E2E8F0"/>
                </a:solidFill>
                <a:latin typeface="Calibri"/>
              </a:rPr>
              <a:t>Requests project completion when done</a:t>
            </a:r>
          </a:p>
        </p:txBody>
      </p:sp>
      <p:sp>
        <p:nvSpPr>
          <p:cNvPr id="13" name="bx"/>
          <p:cNvSpPr>
            <a:spLocks noGrp="1"/>
          </p:cNvSpPr>
          <p:nvPr/>
        </p:nvSpPr>
        <p:spPr>
          <a:xfrm>
            <a:off x="5852160" y="1874519"/>
            <a:ext cx="5394960" cy="8961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tx"/>
          <p:cNvSpPr>
            <a:spLocks noGrp="1"/>
          </p:cNvSpPr>
          <p:nvPr/>
        </p:nvSpPr>
        <p:spPr>
          <a:xfrm>
            <a:off x="6108192" y="2020823"/>
            <a:ext cx="4937760" cy="32004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500" b="1" i="0" dirty="0">
                <a:solidFill>
                  <a:srgbClr val="0F172A"/>
                </a:solidFill>
                <a:latin typeface="Calibri"/>
              </a:rPr>
              <a:t>Reviewer / Approver</a:t>
            </a:r>
          </a:p>
        </p:txBody>
      </p:sp>
      <p:sp>
        <p:nvSpPr>
          <p:cNvPr id="15" name="tx"/>
          <p:cNvSpPr>
            <a:spLocks noGrp="1"/>
          </p:cNvSpPr>
          <p:nvPr/>
        </p:nvSpPr>
        <p:spPr>
          <a:xfrm>
            <a:off x="6108192" y="2350007"/>
            <a:ext cx="4937760" cy="36576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150" b="0" i="0" dirty="0">
                <a:solidFill>
                  <a:srgbClr val="475569"/>
                </a:solidFill>
                <a:latin typeface="Calibri"/>
              </a:rPr>
              <a:t>Delivery Lead or PMO — approves or requests changes on submitted reports.</a:t>
            </a:r>
          </a:p>
        </p:txBody>
      </p:sp>
      <p:sp>
        <p:nvSpPr>
          <p:cNvPr id="16" name="bx"/>
          <p:cNvSpPr>
            <a:spLocks noGrp="1"/>
          </p:cNvSpPr>
          <p:nvPr/>
        </p:nvSpPr>
        <p:spPr>
          <a:xfrm>
            <a:off x="5852160" y="2907791"/>
            <a:ext cx="5394960" cy="8961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tx"/>
          <p:cNvSpPr>
            <a:spLocks noGrp="1"/>
          </p:cNvSpPr>
          <p:nvPr/>
        </p:nvSpPr>
        <p:spPr>
          <a:xfrm>
            <a:off x="6108192" y="3054095"/>
            <a:ext cx="4937760" cy="32004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500" b="1" i="0" dirty="0">
                <a:solidFill>
                  <a:srgbClr val="0F172A"/>
                </a:solidFill>
                <a:latin typeface="Calibri"/>
              </a:rPr>
              <a:t>Executive Leadership</a:t>
            </a:r>
          </a:p>
        </p:txBody>
      </p:sp>
      <p:sp>
        <p:nvSpPr>
          <p:cNvPr id="18" name="tx"/>
          <p:cNvSpPr>
            <a:spLocks noGrp="1"/>
          </p:cNvSpPr>
          <p:nvPr/>
        </p:nvSpPr>
        <p:spPr>
          <a:xfrm>
            <a:off x="6108192" y="3383279"/>
            <a:ext cx="4937760" cy="36576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150" b="0" i="0" dirty="0">
                <a:solidFill>
                  <a:srgbClr val="475569"/>
                </a:solidFill>
                <a:latin typeface="Calibri"/>
              </a:rPr>
              <a:t>Reads the portfolio dashboard; joins the delivery governance meeting.</a:t>
            </a:r>
          </a:p>
        </p:txBody>
      </p:sp>
      <p:sp>
        <p:nvSpPr>
          <p:cNvPr id="19" name="bx"/>
          <p:cNvSpPr>
            <a:spLocks noGrp="1"/>
          </p:cNvSpPr>
          <p:nvPr/>
        </p:nvSpPr>
        <p:spPr>
          <a:xfrm>
            <a:off x="5852160" y="3941063"/>
            <a:ext cx="5394960" cy="8961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tx"/>
          <p:cNvSpPr>
            <a:spLocks noGrp="1"/>
          </p:cNvSpPr>
          <p:nvPr/>
        </p:nvSpPr>
        <p:spPr>
          <a:xfrm>
            <a:off x="6108192" y="4087367"/>
            <a:ext cx="4937760" cy="32004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500" b="1" i="0" dirty="0">
                <a:solidFill>
                  <a:srgbClr val="0F172A"/>
                </a:solidFill>
                <a:latin typeface="Calibri"/>
              </a:rPr>
              <a:t>Portfolio Lead / TBP</a:t>
            </a:r>
          </a:p>
        </p:txBody>
      </p:sp>
      <p:sp>
        <p:nvSpPr>
          <p:cNvPr id="21" name="tx"/>
          <p:cNvSpPr>
            <a:spLocks noGrp="1"/>
          </p:cNvSpPr>
          <p:nvPr/>
        </p:nvSpPr>
        <p:spPr>
          <a:xfrm>
            <a:off x="6108192" y="4416551"/>
            <a:ext cx="4937760" cy="36576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150" b="0" i="0" dirty="0">
                <a:solidFill>
                  <a:srgbClr val="475569"/>
                </a:solidFill>
                <a:latin typeface="Calibri"/>
              </a:rPr>
              <a:t>Oversight of the projects they sponsor or partner on.</a:t>
            </a:r>
          </a:p>
        </p:txBody>
      </p:sp>
      <p:sp>
        <p:nvSpPr>
          <p:cNvPr id="22" name="bx"/>
          <p:cNvSpPr>
            <a:spLocks noGrp="1"/>
          </p:cNvSpPr>
          <p:nvPr/>
        </p:nvSpPr>
        <p:spPr>
          <a:xfrm>
            <a:off x="5852160" y="4974335"/>
            <a:ext cx="5394960" cy="8961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tx"/>
          <p:cNvSpPr>
            <a:spLocks noGrp="1"/>
          </p:cNvSpPr>
          <p:nvPr/>
        </p:nvSpPr>
        <p:spPr>
          <a:xfrm>
            <a:off x="6108192" y="5120639"/>
            <a:ext cx="4937760" cy="32004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500" b="1" i="0" dirty="0">
                <a:solidFill>
                  <a:srgbClr val="0F172A"/>
                </a:solidFill>
                <a:latin typeface="Calibri"/>
              </a:rPr>
              <a:t>Administrator</a:t>
            </a:r>
          </a:p>
        </p:txBody>
      </p:sp>
      <p:sp>
        <p:nvSpPr>
          <p:cNvPr id="24" name="tx"/>
          <p:cNvSpPr>
            <a:spLocks noGrp="1"/>
          </p:cNvSpPr>
          <p:nvPr/>
        </p:nvSpPr>
        <p:spPr>
          <a:xfrm>
            <a:off x="6108192" y="5449823"/>
            <a:ext cx="4937760" cy="36576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150" b="0" i="0" dirty="0">
                <a:solidFill>
                  <a:srgbClr val="475569"/>
                </a:solidFill>
                <a:latin typeface="Calibri"/>
              </a:rPr>
              <a:t>Sets up business units, employees, templates and access.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x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c"/>
          <p:cNvSpPr>
            <a:spLocks noGrp="1"/>
          </p:cNvSpPr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c"/>
          <p:cNvSpPr>
            <a:spLocks noGrp="1"/>
          </p:cNvSpPr>
          <p:nvPr/>
        </p:nvSpPr>
        <p:spPr>
          <a:xfrm>
            <a:off x="841248" y="566928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c"/>
          <p:cNvSpPr>
            <a:spLocks noGrp="1"/>
          </p:cNvSpPr>
          <p:nvPr/>
        </p:nvSpPr>
        <p:spPr>
          <a:xfrm>
            <a:off x="1042416" y="566928"/>
            <a:ext cx="146304" cy="14630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tx"/>
          <p:cNvSpPr>
            <a:spLocks noGrp="1"/>
          </p:cNvSpPr>
          <p:nvPr/>
        </p:nvSpPr>
        <p:spPr>
          <a:xfrm>
            <a:off x="1097280" y="457200"/>
            <a:ext cx="10058400" cy="32004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200" b="1" i="0" dirty="0">
                <a:solidFill>
                  <a:srgbClr val="2563EB"/>
                </a:solidFill>
                <a:latin typeface="Calibri"/>
              </a:rPr>
              <a:t>THE RHYTHM</a:t>
            </a:r>
          </a:p>
        </p:txBody>
      </p:sp>
      <p:sp>
        <p:nvSpPr>
          <p:cNvPr id="7" name="tx"/>
          <p:cNvSpPr>
            <a:spLocks noGrp="1"/>
          </p:cNvSpPr>
          <p:nvPr/>
        </p:nvSpPr>
        <p:spPr>
          <a:xfrm>
            <a:off x="640080" y="777240"/>
            <a:ext cx="10972800" cy="82296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3000" b="1" i="0" dirty="0">
                <a:solidFill>
                  <a:srgbClr val="0F172A"/>
                </a:solidFill>
                <a:latin typeface="Cambria"/>
              </a:rPr>
              <a:t>The weekly delivery-governance cadence</a:t>
            </a:r>
          </a:p>
        </p:txBody>
      </p:sp>
      <p:sp>
        <p:nvSpPr>
          <p:cNvPr id="8" name="bx"/>
          <p:cNvSpPr>
            <a:spLocks noGrp="1"/>
          </p:cNvSpPr>
          <p:nvPr/>
        </p:nvSpPr>
        <p:spPr>
          <a:xfrm>
            <a:off x="685800" y="2286000"/>
            <a:ext cx="25146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>
              <a:srgbClr val="0F172A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c"/>
          <p:cNvSpPr>
            <a:spLocks noGrp="1"/>
          </p:cNvSpPr>
          <p:nvPr/>
        </p:nvSpPr>
        <p:spPr>
          <a:xfrm>
            <a:off x="1577340" y="2606040"/>
            <a:ext cx="731520" cy="7315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tx"/>
          <p:cNvSpPr>
            <a:spLocks noGrp="1"/>
          </p:cNvSpPr>
          <p:nvPr/>
        </p:nvSpPr>
        <p:spPr>
          <a:xfrm>
            <a:off x="1577340" y="2606040"/>
            <a:ext cx="731520" cy="73152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/>
            <a:r>
              <a:rPr lang="en-US" sz="2200" b="1" i="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x"/>
          <p:cNvSpPr>
            <a:spLocks noGrp="1"/>
          </p:cNvSpPr>
          <p:nvPr/>
        </p:nvSpPr>
        <p:spPr>
          <a:xfrm>
            <a:off x="868680" y="3520440"/>
            <a:ext cx="2148840" cy="4572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/>
            <a:r>
              <a:rPr lang="en-US" sz="1600" b="1" i="0" dirty="0">
                <a:solidFill>
                  <a:srgbClr val="0F172A"/>
                </a:solidFill>
                <a:latin typeface="Cambria"/>
              </a:rPr>
              <a:t>File the report</a:t>
            </a:r>
          </a:p>
        </p:txBody>
      </p:sp>
      <p:sp>
        <p:nvSpPr>
          <p:cNvPr id="12" name="tx"/>
          <p:cNvSpPr>
            <a:spLocks noGrp="1"/>
          </p:cNvSpPr>
          <p:nvPr/>
        </p:nvSpPr>
        <p:spPr>
          <a:xfrm>
            <a:off x="914400" y="4069080"/>
            <a:ext cx="2057400" cy="86868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/>
            <a:r>
              <a:rPr lang="en-US" sz="1200" b="0" i="0" dirty="0">
                <a:solidFill>
                  <a:srgbClr val="475569"/>
                </a:solidFill>
                <a:latin typeface="Calibri"/>
              </a:rPr>
              <a:t>PM submits the weekly status report — by the cutoff, for the reporting week.</a:t>
            </a:r>
          </a:p>
        </p:txBody>
      </p:sp>
      <p:sp>
        <p:nvSpPr>
          <p:cNvPr id="13" name="tx"/>
          <p:cNvSpPr>
            <a:spLocks noGrp="1"/>
          </p:cNvSpPr>
          <p:nvPr/>
        </p:nvSpPr>
        <p:spPr>
          <a:xfrm>
            <a:off x="3154680" y="2788920"/>
            <a:ext cx="365760" cy="4572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/>
            <a:r>
              <a:rPr lang="en-US" sz="3000" b="1" i="0" dirty="0">
                <a:solidFill>
                  <a:srgbClr val="94A3B8"/>
                </a:solidFill>
                <a:latin typeface="Calibri"/>
              </a:rPr>
              <a:t>›</a:t>
            </a:r>
          </a:p>
        </p:txBody>
      </p:sp>
      <p:sp>
        <p:nvSpPr>
          <p:cNvPr id="14" name="bx"/>
          <p:cNvSpPr>
            <a:spLocks noGrp="1"/>
          </p:cNvSpPr>
          <p:nvPr/>
        </p:nvSpPr>
        <p:spPr>
          <a:xfrm>
            <a:off x="3474720" y="2286000"/>
            <a:ext cx="25146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>
              <a:srgbClr val="0F172A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c"/>
          <p:cNvSpPr>
            <a:spLocks noGrp="1"/>
          </p:cNvSpPr>
          <p:nvPr/>
        </p:nvSpPr>
        <p:spPr>
          <a:xfrm>
            <a:off x="4366260" y="2606040"/>
            <a:ext cx="731520" cy="7315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tx"/>
          <p:cNvSpPr>
            <a:spLocks noGrp="1"/>
          </p:cNvSpPr>
          <p:nvPr/>
        </p:nvSpPr>
        <p:spPr>
          <a:xfrm>
            <a:off x="4366260" y="2606040"/>
            <a:ext cx="731520" cy="73152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/>
            <a:r>
              <a:rPr lang="en-US" sz="2200" b="1" i="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x"/>
          <p:cNvSpPr>
            <a:spLocks noGrp="1"/>
          </p:cNvSpPr>
          <p:nvPr/>
        </p:nvSpPr>
        <p:spPr>
          <a:xfrm>
            <a:off x="3657600" y="3520440"/>
            <a:ext cx="2148840" cy="4572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/>
            <a:r>
              <a:rPr lang="en-US" sz="1600" b="1" i="0" dirty="0">
                <a:solidFill>
                  <a:srgbClr val="0F172A"/>
                </a:solidFill>
                <a:latin typeface="Cambria"/>
              </a:rPr>
              <a:t>Review &amp; approve</a:t>
            </a:r>
          </a:p>
        </p:txBody>
      </p:sp>
      <p:sp>
        <p:nvSpPr>
          <p:cNvPr id="18" name="tx"/>
          <p:cNvSpPr>
            <a:spLocks noGrp="1"/>
          </p:cNvSpPr>
          <p:nvPr/>
        </p:nvSpPr>
        <p:spPr>
          <a:xfrm>
            <a:off x="3703320" y="4069080"/>
            <a:ext cx="2057400" cy="86868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/>
            <a:r>
              <a:rPr lang="en-US" sz="1200" b="0" i="0" dirty="0">
                <a:solidFill>
                  <a:srgbClr val="475569"/>
                </a:solidFill>
                <a:latin typeface="Calibri"/>
              </a:rPr>
              <a:t>Reviewer approves or requests changes; the report's status settles from the workflow.</a:t>
            </a:r>
          </a:p>
        </p:txBody>
      </p:sp>
      <p:sp>
        <p:nvSpPr>
          <p:cNvPr id="19" name="tx"/>
          <p:cNvSpPr>
            <a:spLocks noGrp="1"/>
          </p:cNvSpPr>
          <p:nvPr/>
        </p:nvSpPr>
        <p:spPr>
          <a:xfrm>
            <a:off x="5943600" y="2788920"/>
            <a:ext cx="365760" cy="4572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/>
            <a:r>
              <a:rPr lang="en-US" sz="3000" b="1" i="0" dirty="0">
                <a:solidFill>
                  <a:srgbClr val="94A3B8"/>
                </a:solidFill>
                <a:latin typeface="Calibri"/>
              </a:rPr>
              <a:t>›</a:t>
            </a:r>
          </a:p>
        </p:txBody>
      </p:sp>
      <p:sp>
        <p:nvSpPr>
          <p:cNvPr id="20" name="bx"/>
          <p:cNvSpPr>
            <a:spLocks noGrp="1"/>
          </p:cNvSpPr>
          <p:nvPr/>
        </p:nvSpPr>
        <p:spPr>
          <a:xfrm>
            <a:off x="6263640" y="2286000"/>
            <a:ext cx="25146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>
              <a:srgbClr val="0F172A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c"/>
          <p:cNvSpPr>
            <a:spLocks noGrp="1"/>
          </p:cNvSpPr>
          <p:nvPr/>
        </p:nvSpPr>
        <p:spPr>
          <a:xfrm>
            <a:off x="7155180" y="2606040"/>
            <a:ext cx="731520" cy="7315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tx"/>
          <p:cNvSpPr>
            <a:spLocks noGrp="1"/>
          </p:cNvSpPr>
          <p:nvPr/>
        </p:nvSpPr>
        <p:spPr>
          <a:xfrm>
            <a:off x="7155180" y="2606040"/>
            <a:ext cx="731520" cy="73152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/>
            <a:r>
              <a:rPr lang="en-US" sz="2200" b="1" i="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x"/>
          <p:cNvSpPr>
            <a:spLocks noGrp="1"/>
          </p:cNvSpPr>
          <p:nvPr/>
        </p:nvSpPr>
        <p:spPr>
          <a:xfrm>
            <a:off x="6446520" y="3520440"/>
            <a:ext cx="2148840" cy="4572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/>
            <a:r>
              <a:rPr lang="en-US" sz="1600" b="1" i="0" dirty="0">
                <a:solidFill>
                  <a:srgbClr val="0F172A"/>
                </a:solidFill>
                <a:latin typeface="Cambria"/>
              </a:rPr>
              <a:t>Roll-up &amp; notify</a:t>
            </a:r>
          </a:p>
        </p:txBody>
      </p:sp>
      <p:sp>
        <p:nvSpPr>
          <p:cNvPr id="24" name="tx"/>
          <p:cNvSpPr>
            <a:spLocks noGrp="1"/>
          </p:cNvSpPr>
          <p:nvPr/>
        </p:nvSpPr>
        <p:spPr>
          <a:xfrm>
            <a:off x="6492240" y="4069080"/>
            <a:ext cx="2057400" cy="86868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/>
            <a:r>
              <a:rPr lang="en-US" sz="1200" b="0" i="0" dirty="0">
                <a:solidFill>
                  <a:srgbClr val="475569"/>
                </a:solidFill>
                <a:latin typeface="Calibri"/>
              </a:rPr>
              <a:t>Dashboards update; a themed status email goes to stakeholders.</a:t>
            </a:r>
          </a:p>
        </p:txBody>
      </p:sp>
      <p:sp>
        <p:nvSpPr>
          <p:cNvPr id="25" name="tx"/>
          <p:cNvSpPr>
            <a:spLocks noGrp="1"/>
          </p:cNvSpPr>
          <p:nvPr/>
        </p:nvSpPr>
        <p:spPr>
          <a:xfrm>
            <a:off x="8732520" y="2788920"/>
            <a:ext cx="365760" cy="4572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/>
            <a:r>
              <a:rPr lang="en-US" sz="3000" b="1" i="0" dirty="0">
                <a:solidFill>
                  <a:srgbClr val="94A3B8"/>
                </a:solidFill>
                <a:latin typeface="Calibri"/>
              </a:rPr>
              <a:t>›</a:t>
            </a:r>
          </a:p>
        </p:txBody>
      </p:sp>
      <p:sp>
        <p:nvSpPr>
          <p:cNvPr id="26" name="bx"/>
          <p:cNvSpPr>
            <a:spLocks noGrp="1"/>
          </p:cNvSpPr>
          <p:nvPr/>
        </p:nvSpPr>
        <p:spPr>
          <a:xfrm>
            <a:off x="9052560" y="2286000"/>
            <a:ext cx="25146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>
              <a:srgbClr val="0F172A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c"/>
          <p:cNvSpPr>
            <a:spLocks noGrp="1"/>
          </p:cNvSpPr>
          <p:nvPr/>
        </p:nvSpPr>
        <p:spPr>
          <a:xfrm>
            <a:off x="9944100" y="2606040"/>
            <a:ext cx="731520" cy="7315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tx"/>
          <p:cNvSpPr>
            <a:spLocks noGrp="1"/>
          </p:cNvSpPr>
          <p:nvPr/>
        </p:nvSpPr>
        <p:spPr>
          <a:xfrm>
            <a:off x="9944100" y="2606040"/>
            <a:ext cx="731520" cy="73152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/>
            <a:r>
              <a:rPr lang="en-US" sz="2200" b="1" i="0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x"/>
          <p:cNvSpPr>
            <a:spLocks noGrp="1"/>
          </p:cNvSpPr>
          <p:nvPr/>
        </p:nvSpPr>
        <p:spPr>
          <a:xfrm>
            <a:off x="9235440" y="3520440"/>
            <a:ext cx="2148840" cy="4572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/>
            <a:r>
              <a:rPr lang="en-US" sz="1600" b="1" i="0" dirty="0">
                <a:solidFill>
                  <a:srgbClr val="0F172A"/>
                </a:solidFill>
                <a:latin typeface="Cambria"/>
              </a:rPr>
              <a:t>Govern</a:t>
            </a:r>
          </a:p>
        </p:txBody>
      </p:sp>
      <p:sp>
        <p:nvSpPr>
          <p:cNvPr id="30" name="tx"/>
          <p:cNvSpPr>
            <a:spLocks noGrp="1"/>
          </p:cNvSpPr>
          <p:nvPr/>
        </p:nvSpPr>
        <p:spPr>
          <a:xfrm>
            <a:off x="9281160" y="4069080"/>
            <a:ext cx="2057400" cy="86868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/>
            <a:r>
              <a:rPr lang="en-US" sz="1200" b="0" i="0" dirty="0">
                <a:solidFill>
                  <a:srgbClr val="475569"/>
                </a:solidFill>
                <a:latin typeface="Calibri"/>
              </a:rPr>
              <a:t>Amber / Red and non-compliant projects are taken to the governance meeting.</a:t>
            </a:r>
          </a:p>
        </p:txBody>
      </p:sp>
      <p:sp>
        <p:nvSpPr>
          <p:cNvPr id="31" name="bx"/>
          <p:cNvSpPr>
            <a:spLocks noGrp="1"/>
          </p:cNvSpPr>
          <p:nvPr/>
        </p:nvSpPr>
        <p:spPr>
          <a:xfrm>
            <a:off x="685800" y="5440680"/>
            <a:ext cx="10744200" cy="685800"/>
          </a:xfrm>
          <a:prstGeom prst="roundRect">
            <a:avLst/>
          </a:prstGeom>
          <a:solidFill>
            <a:srgbClr val="E8ED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tx"/>
          <p:cNvSpPr>
            <a:spLocks noGrp="1"/>
          </p:cNvSpPr>
          <p:nvPr/>
        </p:nvSpPr>
        <p:spPr>
          <a:xfrm>
            <a:off x="960120" y="5440680"/>
            <a:ext cx="10241280" cy="6858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/>
            <a:r>
              <a:rPr lang="en-US" sz="1300" b="0" i="1" dirty="0">
                <a:solidFill>
                  <a:srgbClr val="1E293B"/>
                </a:solidFill>
                <a:latin typeface="Calibri"/>
              </a:rPr>
              <a:t>Default reporting week = the PREVIOUS (last completed) week. Closed weeks can't be back-filled — file the current 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x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c"/>
          <p:cNvSpPr>
            <a:spLocks noGrp="1"/>
          </p:cNvSpPr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c"/>
          <p:cNvSpPr>
            <a:spLocks noGrp="1"/>
          </p:cNvSpPr>
          <p:nvPr/>
        </p:nvSpPr>
        <p:spPr>
          <a:xfrm>
            <a:off x="841248" y="566928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c"/>
          <p:cNvSpPr>
            <a:spLocks noGrp="1"/>
          </p:cNvSpPr>
          <p:nvPr/>
        </p:nvSpPr>
        <p:spPr>
          <a:xfrm>
            <a:off x="1042416" y="566928"/>
            <a:ext cx="146304" cy="14630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tx"/>
          <p:cNvSpPr>
            <a:spLocks noGrp="1"/>
          </p:cNvSpPr>
          <p:nvPr/>
        </p:nvSpPr>
        <p:spPr>
          <a:xfrm>
            <a:off x="1097280" y="457200"/>
            <a:ext cx="10058400" cy="32004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200" b="1" i="0" dirty="0">
                <a:solidFill>
                  <a:srgbClr val="2563EB"/>
                </a:solidFill>
                <a:latin typeface="Calibri"/>
              </a:rPr>
              <a:t>THE REPORT</a:t>
            </a:r>
          </a:p>
        </p:txBody>
      </p:sp>
      <p:sp>
        <p:nvSpPr>
          <p:cNvPr id="7" name="tx"/>
          <p:cNvSpPr>
            <a:spLocks noGrp="1"/>
          </p:cNvSpPr>
          <p:nvPr/>
        </p:nvSpPr>
        <p:spPr>
          <a:xfrm>
            <a:off x="640080" y="777240"/>
            <a:ext cx="10972800" cy="82296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3000" b="1" i="0" dirty="0">
                <a:solidFill>
                  <a:srgbClr val="0F172A"/>
                </a:solidFill>
                <a:latin typeface="Cambria"/>
              </a:rPr>
              <a:t>Anatomy of a weekly status report</a:t>
            </a:r>
          </a:p>
        </p:txBody>
      </p:sp>
      <p:sp>
        <p:nvSpPr>
          <p:cNvPr id="8" name="bx"/>
          <p:cNvSpPr>
            <a:spLocks noGrp="1"/>
          </p:cNvSpPr>
          <p:nvPr/>
        </p:nvSpPr>
        <p:spPr>
          <a:xfrm>
            <a:off x="640080" y="1828800"/>
            <a:ext cx="10789920" cy="62179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c"/>
          <p:cNvSpPr>
            <a:spLocks noGrp="1"/>
          </p:cNvSpPr>
          <p:nvPr/>
        </p:nvSpPr>
        <p:spPr>
          <a:xfrm>
            <a:off x="841248" y="1947672"/>
            <a:ext cx="384048" cy="384048"/>
          </a:xfrm>
          <a:prstGeom prst="ellipse">
            <a:avLst/>
          </a:prstGeom>
          <a:solidFill>
            <a:srgbClr val="E8ED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tx"/>
          <p:cNvSpPr>
            <a:spLocks noGrp="1"/>
          </p:cNvSpPr>
          <p:nvPr/>
        </p:nvSpPr>
        <p:spPr>
          <a:xfrm>
            <a:off x="841248" y="1947672"/>
            <a:ext cx="384048" cy="384048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/>
            <a:r>
              <a:rPr lang="en-US" sz="1300" b="1" i="0" dirty="0">
                <a:solidFill>
                  <a:srgbClr val="2563EB"/>
                </a:solidFill>
                <a:latin typeface="Calibri"/>
              </a:rPr>
              <a:t>1</a:t>
            </a:r>
          </a:p>
        </p:txBody>
      </p:sp>
      <p:sp>
        <p:nvSpPr>
          <p:cNvPr id="11" name="tx"/>
          <p:cNvSpPr>
            <a:spLocks noGrp="1"/>
          </p:cNvSpPr>
          <p:nvPr/>
        </p:nvSpPr>
        <p:spPr>
          <a:xfrm>
            <a:off x="1417320" y="1828800"/>
            <a:ext cx="3383280" cy="621792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/>
            <a:r>
              <a:rPr lang="en-US" sz="1450" b="1" i="0" dirty="0">
                <a:solidFill>
                  <a:srgbClr val="0F172A"/>
                </a:solidFill>
                <a:latin typeface="Calibri"/>
              </a:rPr>
              <a:t>Executive Summary</a:t>
            </a:r>
          </a:p>
        </p:txBody>
      </p:sp>
      <p:sp>
        <p:nvSpPr>
          <p:cNvPr id="12" name="tx"/>
          <p:cNvSpPr>
            <a:spLocks noGrp="1"/>
          </p:cNvSpPr>
          <p:nvPr/>
        </p:nvSpPr>
        <p:spPr>
          <a:xfrm>
            <a:off x="4937760" y="1828800"/>
            <a:ext cx="6263640" cy="621792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/>
            <a:r>
              <a:rPr lang="en-US" sz="1250" b="0" i="0" dirty="0">
                <a:solidFill>
                  <a:srgbClr val="475569"/>
                </a:solidFill>
                <a:latin typeface="Calibri"/>
              </a:rPr>
              <a:t>A few sentences: where the project stands this week, in plain language.</a:t>
            </a:r>
          </a:p>
        </p:txBody>
      </p:sp>
      <p:sp>
        <p:nvSpPr>
          <p:cNvPr id="13" name="bx"/>
          <p:cNvSpPr>
            <a:spLocks noGrp="1"/>
          </p:cNvSpPr>
          <p:nvPr/>
        </p:nvSpPr>
        <p:spPr>
          <a:xfrm>
            <a:off x="640080" y="2560320"/>
            <a:ext cx="107899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c"/>
          <p:cNvSpPr>
            <a:spLocks noGrp="1"/>
          </p:cNvSpPr>
          <p:nvPr/>
        </p:nvSpPr>
        <p:spPr>
          <a:xfrm>
            <a:off x="841248" y="2679192"/>
            <a:ext cx="384048" cy="384048"/>
          </a:xfrm>
          <a:prstGeom prst="ellipse">
            <a:avLst/>
          </a:prstGeom>
          <a:solidFill>
            <a:srgbClr val="E8ED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tx"/>
          <p:cNvSpPr>
            <a:spLocks noGrp="1"/>
          </p:cNvSpPr>
          <p:nvPr/>
        </p:nvSpPr>
        <p:spPr>
          <a:xfrm>
            <a:off x="841248" y="2679192"/>
            <a:ext cx="384048" cy="384048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/>
            <a:r>
              <a:rPr lang="en-US" sz="1300" b="1" i="0" dirty="0">
                <a:solidFill>
                  <a:srgbClr val="2563EB"/>
                </a:solidFill>
                <a:latin typeface="Calibri"/>
              </a:rPr>
              <a:t>2</a:t>
            </a:r>
          </a:p>
        </p:txBody>
      </p:sp>
      <p:sp>
        <p:nvSpPr>
          <p:cNvPr id="16" name="tx"/>
          <p:cNvSpPr>
            <a:spLocks noGrp="1"/>
          </p:cNvSpPr>
          <p:nvPr/>
        </p:nvSpPr>
        <p:spPr>
          <a:xfrm>
            <a:off x="1417320" y="2560320"/>
            <a:ext cx="3383280" cy="621792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/>
            <a:r>
              <a:rPr lang="en-US" sz="1450" b="1" i="0" dirty="0">
                <a:solidFill>
                  <a:srgbClr val="0F172A"/>
                </a:solidFill>
                <a:latin typeface="Calibri"/>
              </a:rPr>
              <a:t>Health Indicators (RAG)</a:t>
            </a:r>
          </a:p>
        </p:txBody>
      </p:sp>
      <p:sp>
        <p:nvSpPr>
          <p:cNvPr id="17" name="tx"/>
          <p:cNvSpPr>
            <a:spLocks noGrp="1"/>
          </p:cNvSpPr>
          <p:nvPr/>
        </p:nvSpPr>
        <p:spPr>
          <a:xfrm>
            <a:off x="4937760" y="2560320"/>
            <a:ext cx="6263640" cy="621792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/>
            <a:r>
              <a:rPr lang="en-US" sz="1250" b="0" i="0" dirty="0">
                <a:solidFill>
                  <a:srgbClr val="475569"/>
                </a:solidFill>
                <a:latin typeface="Calibri"/>
              </a:rPr>
              <a:t>Six areas rated Green / Amber / Red — the heart of the report.</a:t>
            </a:r>
          </a:p>
        </p:txBody>
      </p:sp>
      <p:sp>
        <p:nvSpPr>
          <p:cNvPr id="18" name="bx"/>
          <p:cNvSpPr>
            <a:spLocks noGrp="1"/>
          </p:cNvSpPr>
          <p:nvPr/>
        </p:nvSpPr>
        <p:spPr>
          <a:xfrm>
            <a:off x="640080" y="3291840"/>
            <a:ext cx="10789920" cy="62179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c"/>
          <p:cNvSpPr>
            <a:spLocks noGrp="1"/>
          </p:cNvSpPr>
          <p:nvPr/>
        </p:nvSpPr>
        <p:spPr>
          <a:xfrm>
            <a:off x="841248" y="3410712"/>
            <a:ext cx="384048" cy="384048"/>
          </a:xfrm>
          <a:prstGeom prst="ellipse">
            <a:avLst/>
          </a:prstGeom>
          <a:solidFill>
            <a:srgbClr val="E8ED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tx"/>
          <p:cNvSpPr>
            <a:spLocks noGrp="1"/>
          </p:cNvSpPr>
          <p:nvPr/>
        </p:nvSpPr>
        <p:spPr>
          <a:xfrm>
            <a:off x="841248" y="3410712"/>
            <a:ext cx="384048" cy="384048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/>
            <a:r>
              <a:rPr lang="en-US" sz="1300" b="1" i="0" dirty="0">
                <a:solidFill>
                  <a:srgbClr val="2563EB"/>
                </a:solidFill>
                <a:latin typeface="Calibri"/>
              </a:rPr>
              <a:t>3</a:t>
            </a:r>
          </a:p>
        </p:txBody>
      </p:sp>
      <p:sp>
        <p:nvSpPr>
          <p:cNvPr id="21" name="tx"/>
          <p:cNvSpPr>
            <a:spLocks noGrp="1"/>
          </p:cNvSpPr>
          <p:nvPr/>
        </p:nvSpPr>
        <p:spPr>
          <a:xfrm>
            <a:off x="1417320" y="3291840"/>
            <a:ext cx="3383280" cy="621792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/>
            <a:r>
              <a:rPr lang="en-US" sz="1450" b="1" i="0" dirty="0">
                <a:solidFill>
                  <a:srgbClr val="0F172A"/>
                </a:solidFill>
                <a:latin typeface="Calibri"/>
              </a:rPr>
              <a:t>Milestones</a:t>
            </a:r>
          </a:p>
        </p:txBody>
      </p:sp>
      <p:sp>
        <p:nvSpPr>
          <p:cNvPr id="22" name="tx"/>
          <p:cNvSpPr>
            <a:spLocks noGrp="1"/>
          </p:cNvSpPr>
          <p:nvPr/>
        </p:nvSpPr>
        <p:spPr>
          <a:xfrm>
            <a:off x="4937760" y="3291840"/>
            <a:ext cx="6263640" cy="621792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/>
            <a:r>
              <a:rPr lang="en-US" sz="1250" b="0" i="0" dirty="0">
                <a:solidFill>
                  <a:srgbClr val="475569"/>
                </a:solidFill>
                <a:latin typeface="Calibri"/>
              </a:rPr>
              <a:t>Progress against the plan; status per milestone (from the tracker).</a:t>
            </a:r>
          </a:p>
        </p:txBody>
      </p:sp>
      <p:sp>
        <p:nvSpPr>
          <p:cNvPr id="23" name="bx"/>
          <p:cNvSpPr>
            <a:spLocks noGrp="1"/>
          </p:cNvSpPr>
          <p:nvPr/>
        </p:nvSpPr>
        <p:spPr>
          <a:xfrm>
            <a:off x="640080" y="4023360"/>
            <a:ext cx="107899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c"/>
          <p:cNvSpPr>
            <a:spLocks noGrp="1"/>
          </p:cNvSpPr>
          <p:nvPr/>
        </p:nvSpPr>
        <p:spPr>
          <a:xfrm>
            <a:off x="841248" y="4142232"/>
            <a:ext cx="384048" cy="384048"/>
          </a:xfrm>
          <a:prstGeom prst="ellipse">
            <a:avLst/>
          </a:prstGeom>
          <a:solidFill>
            <a:srgbClr val="E8ED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tx"/>
          <p:cNvSpPr>
            <a:spLocks noGrp="1"/>
          </p:cNvSpPr>
          <p:nvPr/>
        </p:nvSpPr>
        <p:spPr>
          <a:xfrm>
            <a:off x="841248" y="4142232"/>
            <a:ext cx="384048" cy="384048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/>
            <a:r>
              <a:rPr lang="en-US" sz="1300" b="1" i="0" dirty="0">
                <a:solidFill>
                  <a:srgbClr val="2563EB"/>
                </a:solidFill>
                <a:latin typeface="Calibri"/>
              </a:rPr>
              <a:t>4</a:t>
            </a:r>
          </a:p>
        </p:txBody>
      </p:sp>
      <p:sp>
        <p:nvSpPr>
          <p:cNvPr id="26" name="tx"/>
          <p:cNvSpPr>
            <a:spLocks noGrp="1"/>
          </p:cNvSpPr>
          <p:nvPr/>
        </p:nvSpPr>
        <p:spPr>
          <a:xfrm>
            <a:off x="1417320" y="4023360"/>
            <a:ext cx="3383280" cy="621792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/>
            <a:r>
              <a:rPr lang="en-US" sz="1450" b="1" i="0" dirty="0">
                <a:solidFill>
                  <a:srgbClr val="0F172A"/>
                </a:solidFill>
                <a:latin typeface="Calibri"/>
              </a:rPr>
              <a:t>Risks &amp; Issues</a:t>
            </a:r>
          </a:p>
        </p:txBody>
      </p:sp>
      <p:sp>
        <p:nvSpPr>
          <p:cNvPr id="27" name="tx"/>
          <p:cNvSpPr>
            <a:spLocks noGrp="1"/>
          </p:cNvSpPr>
          <p:nvPr/>
        </p:nvSpPr>
        <p:spPr>
          <a:xfrm>
            <a:off x="4937760" y="4023360"/>
            <a:ext cx="6263640" cy="621792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/>
            <a:r>
              <a:rPr lang="en-US" sz="1250" b="0" i="0" dirty="0">
                <a:solidFill>
                  <a:srgbClr val="475569"/>
                </a:solidFill>
                <a:latin typeface="Calibri"/>
              </a:rPr>
              <a:t>The live register — what could hurt delivery, and what already has.</a:t>
            </a:r>
          </a:p>
        </p:txBody>
      </p:sp>
      <p:sp>
        <p:nvSpPr>
          <p:cNvPr id="28" name="bx"/>
          <p:cNvSpPr>
            <a:spLocks noGrp="1"/>
          </p:cNvSpPr>
          <p:nvPr/>
        </p:nvSpPr>
        <p:spPr>
          <a:xfrm>
            <a:off x="640080" y="4754880"/>
            <a:ext cx="10789920" cy="62179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c"/>
          <p:cNvSpPr>
            <a:spLocks noGrp="1"/>
          </p:cNvSpPr>
          <p:nvPr/>
        </p:nvSpPr>
        <p:spPr>
          <a:xfrm>
            <a:off x="841248" y="4873752"/>
            <a:ext cx="384048" cy="384048"/>
          </a:xfrm>
          <a:prstGeom prst="ellipse">
            <a:avLst/>
          </a:prstGeom>
          <a:solidFill>
            <a:srgbClr val="E8ED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" name="tx"/>
          <p:cNvSpPr>
            <a:spLocks noGrp="1"/>
          </p:cNvSpPr>
          <p:nvPr/>
        </p:nvSpPr>
        <p:spPr>
          <a:xfrm>
            <a:off x="841248" y="4873752"/>
            <a:ext cx="384048" cy="384048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/>
            <a:r>
              <a:rPr lang="en-US" sz="1300" b="1" i="0" dirty="0">
                <a:solidFill>
                  <a:srgbClr val="2563EB"/>
                </a:solidFill>
                <a:latin typeface="Calibri"/>
              </a:rPr>
              <a:t>5</a:t>
            </a:r>
          </a:p>
        </p:txBody>
      </p:sp>
      <p:sp>
        <p:nvSpPr>
          <p:cNvPr id="31" name="tx"/>
          <p:cNvSpPr>
            <a:spLocks noGrp="1"/>
          </p:cNvSpPr>
          <p:nvPr/>
        </p:nvSpPr>
        <p:spPr>
          <a:xfrm>
            <a:off x="1417320" y="4754880"/>
            <a:ext cx="3383280" cy="621792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/>
            <a:r>
              <a:rPr lang="en-US" sz="1450" b="1" i="0" dirty="0">
                <a:solidFill>
                  <a:srgbClr val="0F172A"/>
                </a:solidFill>
                <a:latin typeface="Calibri"/>
              </a:rPr>
              <a:t>Budget &amp; Schedule metrics</a:t>
            </a:r>
          </a:p>
        </p:txBody>
      </p:sp>
      <p:sp>
        <p:nvSpPr>
          <p:cNvPr id="32" name="tx"/>
          <p:cNvSpPr>
            <a:spLocks noGrp="1"/>
          </p:cNvSpPr>
          <p:nvPr/>
        </p:nvSpPr>
        <p:spPr>
          <a:xfrm>
            <a:off x="4937760" y="4754880"/>
            <a:ext cx="6263640" cy="621792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/>
            <a:r>
              <a:rPr lang="en-US" sz="1250" b="0" i="0" dirty="0">
                <a:solidFill>
                  <a:srgbClr val="475569"/>
                </a:solidFill>
                <a:latin typeface="Calibri"/>
              </a:rPr>
              <a:t>Actuals vs. plan — the numbers behind Budget and Schedule health.</a:t>
            </a:r>
          </a:p>
        </p:txBody>
      </p:sp>
      <p:sp>
        <p:nvSpPr>
          <p:cNvPr id="33" name="bx"/>
          <p:cNvSpPr>
            <a:spLocks noGrp="1"/>
          </p:cNvSpPr>
          <p:nvPr/>
        </p:nvSpPr>
        <p:spPr>
          <a:xfrm>
            <a:off x="640080" y="5486400"/>
            <a:ext cx="107899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c"/>
          <p:cNvSpPr>
            <a:spLocks noGrp="1"/>
          </p:cNvSpPr>
          <p:nvPr/>
        </p:nvSpPr>
        <p:spPr>
          <a:xfrm>
            <a:off x="841248" y="5605272"/>
            <a:ext cx="384048" cy="384048"/>
          </a:xfrm>
          <a:prstGeom prst="ellipse">
            <a:avLst/>
          </a:prstGeom>
          <a:solidFill>
            <a:srgbClr val="E8ED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5" name="tx"/>
          <p:cNvSpPr>
            <a:spLocks noGrp="1"/>
          </p:cNvSpPr>
          <p:nvPr/>
        </p:nvSpPr>
        <p:spPr>
          <a:xfrm>
            <a:off x="841248" y="5605272"/>
            <a:ext cx="384048" cy="384048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/>
            <a:r>
              <a:rPr lang="en-US" sz="1300" b="1" i="0" dirty="0">
                <a:solidFill>
                  <a:srgbClr val="2563EB"/>
                </a:solidFill>
                <a:latin typeface="Calibri"/>
              </a:rPr>
              <a:t>6</a:t>
            </a:r>
          </a:p>
        </p:txBody>
      </p:sp>
      <p:sp>
        <p:nvSpPr>
          <p:cNvPr id="36" name="tx"/>
          <p:cNvSpPr>
            <a:spLocks noGrp="1"/>
          </p:cNvSpPr>
          <p:nvPr/>
        </p:nvSpPr>
        <p:spPr>
          <a:xfrm>
            <a:off x="1417320" y="5486400"/>
            <a:ext cx="3383280" cy="621792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/>
            <a:r>
              <a:rPr lang="en-US" sz="1450" b="1" i="0" dirty="0">
                <a:solidFill>
                  <a:srgbClr val="0F172A"/>
                </a:solidFill>
                <a:latin typeface="Calibri"/>
              </a:rPr>
              <a:t>Accomplishments / Next Steps</a:t>
            </a:r>
          </a:p>
        </p:txBody>
      </p:sp>
      <p:sp>
        <p:nvSpPr>
          <p:cNvPr id="37" name="tx"/>
          <p:cNvSpPr>
            <a:spLocks noGrp="1"/>
          </p:cNvSpPr>
          <p:nvPr/>
        </p:nvSpPr>
        <p:spPr>
          <a:xfrm>
            <a:off x="4937760" y="5486400"/>
            <a:ext cx="6263640" cy="621792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/>
            <a:r>
              <a:rPr lang="en-US" sz="1250" b="0" i="0" dirty="0">
                <a:solidFill>
                  <a:srgbClr val="475569"/>
                </a:solidFill>
                <a:latin typeface="Calibri"/>
              </a:rPr>
              <a:t>What was done this week and what happens next.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x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c"/>
          <p:cNvSpPr>
            <a:spLocks noGrp="1"/>
          </p:cNvSpPr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c"/>
          <p:cNvSpPr>
            <a:spLocks noGrp="1"/>
          </p:cNvSpPr>
          <p:nvPr/>
        </p:nvSpPr>
        <p:spPr>
          <a:xfrm>
            <a:off x="841248" y="566928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c"/>
          <p:cNvSpPr>
            <a:spLocks noGrp="1"/>
          </p:cNvSpPr>
          <p:nvPr/>
        </p:nvSpPr>
        <p:spPr>
          <a:xfrm>
            <a:off x="1042416" y="566928"/>
            <a:ext cx="146304" cy="14630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tx"/>
          <p:cNvSpPr>
            <a:spLocks noGrp="1"/>
          </p:cNvSpPr>
          <p:nvPr/>
        </p:nvSpPr>
        <p:spPr>
          <a:xfrm>
            <a:off x="1097280" y="457200"/>
            <a:ext cx="10058400" cy="32004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200" b="1" i="0" dirty="0">
                <a:solidFill>
                  <a:srgbClr val="2563EB"/>
                </a:solidFill>
                <a:latin typeface="Calibri"/>
              </a:rPr>
              <a:t>HEALTH INDICATORS</a:t>
            </a:r>
          </a:p>
        </p:txBody>
      </p:sp>
      <p:sp>
        <p:nvSpPr>
          <p:cNvPr id="7" name="tx"/>
          <p:cNvSpPr>
            <a:spLocks noGrp="1"/>
          </p:cNvSpPr>
          <p:nvPr/>
        </p:nvSpPr>
        <p:spPr>
          <a:xfrm>
            <a:off x="640080" y="777240"/>
            <a:ext cx="10972800" cy="82296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3000" b="1" i="0" dirty="0">
                <a:solidFill>
                  <a:srgbClr val="0F172A"/>
                </a:solidFill>
                <a:latin typeface="Cambria"/>
              </a:rPr>
              <a:t>The six RAG areas — and the golden rules</a:t>
            </a:r>
          </a:p>
        </p:txBody>
      </p:sp>
      <p:sp>
        <p:nvSpPr>
          <p:cNvPr id="8" name="bx"/>
          <p:cNvSpPr>
            <a:spLocks noGrp="1"/>
          </p:cNvSpPr>
          <p:nvPr/>
        </p:nvSpPr>
        <p:spPr>
          <a:xfrm>
            <a:off x="640080" y="1874519"/>
            <a:ext cx="3429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>
              <a:srgbClr val="0F172A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c"/>
          <p:cNvSpPr>
            <a:spLocks noGrp="1"/>
          </p:cNvSpPr>
          <p:nvPr/>
        </p:nvSpPr>
        <p:spPr>
          <a:xfrm>
            <a:off x="914400" y="2253995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tx"/>
          <p:cNvSpPr>
            <a:spLocks noGrp="1"/>
          </p:cNvSpPr>
          <p:nvPr/>
        </p:nvSpPr>
        <p:spPr>
          <a:xfrm>
            <a:off x="1417320" y="1874519"/>
            <a:ext cx="2514600" cy="105156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/>
            <a:r>
              <a:rPr lang="en-US" sz="1800" b="1" i="0" dirty="0">
                <a:solidFill>
                  <a:srgbClr val="0F172A"/>
                </a:solidFill>
                <a:latin typeface="Cambria"/>
              </a:rPr>
              <a:t>Scope</a:t>
            </a:r>
          </a:p>
        </p:txBody>
      </p:sp>
      <p:sp>
        <p:nvSpPr>
          <p:cNvPr id="11" name="bx"/>
          <p:cNvSpPr>
            <a:spLocks noGrp="1"/>
          </p:cNvSpPr>
          <p:nvPr/>
        </p:nvSpPr>
        <p:spPr>
          <a:xfrm>
            <a:off x="4343400" y="1874519"/>
            <a:ext cx="3429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>
              <a:srgbClr val="0F172A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c"/>
          <p:cNvSpPr>
            <a:spLocks noGrp="1"/>
          </p:cNvSpPr>
          <p:nvPr/>
        </p:nvSpPr>
        <p:spPr>
          <a:xfrm>
            <a:off x="4617720" y="2253995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tx"/>
          <p:cNvSpPr>
            <a:spLocks noGrp="1"/>
          </p:cNvSpPr>
          <p:nvPr/>
        </p:nvSpPr>
        <p:spPr>
          <a:xfrm>
            <a:off x="5120640" y="1874519"/>
            <a:ext cx="2514600" cy="105156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/>
            <a:r>
              <a:rPr lang="en-US" sz="1800" b="1" i="0" dirty="0">
                <a:solidFill>
                  <a:srgbClr val="0F172A"/>
                </a:solidFill>
                <a:latin typeface="Cambria"/>
              </a:rPr>
              <a:t>Schedule</a:t>
            </a:r>
          </a:p>
        </p:txBody>
      </p:sp>
      <p:sp>
        <p:nvSpPr>
          <p:cNvPr id="14" name="bx"/>
          <p:cNvSpPr>
            <a:spLocks noGrp="1"/>
          </p:cNvSpPr>
          <p:nvPr/>
        </p:nvSpPr>
        <p:spPr>
          <a:xfrm>
            <a:off x="8046720" y="1874519"/>
            <a:ext cx="3429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>
              <a:srgbClr val="0F172A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c"/>
          <p:cNvSpPr>
            <a:spLocks noGrp="1"/>
          </p:cNvSpPr>
          <p:nvPr/>
        </p:nvSpPr>
        <p:spPr>
          <a:xfrm>
            <a:off x="8321040" y="2253995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tx"/>
          <p:cNvSpPr>
            <a:spLocks noGrp="1"/>
          </p:cNvSpPr>
          <p:nvPr/>
        </p:nvSpPr>
        <p:spPr>
          <a:xfrm>
            <a:off x="8823960" y="1874519"/>
            <a:ext cx="2514600" cy="105156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/>
            <a:r>
              <a:rPr lang="en-US" sz="1800" b="1" i="0" dirty="0">
                <a:solidFill>
                  <a:srgbClr val="0F172A"/>
                </a:solidFill>
                <a:latin typeface="Cambria"/>
              </a:rPr>
              <a:t>Budget</a:t>
            </a:r>
          </a:p>
        </p:txBody>
      </p:sp>
      <p:sp>
        <p:nvSpPr>
          <p:cNvPr id="17" name="bx"/>
          <p:cNvSpPr>
            <a:spLocks noGrp="1"/>
          </p:cNvSpPr>
          <p:nvPr/>
        </p:nvSpPr>
        <p:spPr>
          <a:xfrm>
            <a:off x="640080" y="3200399"/>
            <a:ext cx="3429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>
              <a:srgbClr val="0F172A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c"/>
          <p:cNvSpPr>
            <a:spLocks noGrp="1"/>
          </p:cNvSpPr>
          <p:nvPr/>
        </p:nvSpPr>
        <p:spPr>
          <a:xfrm>
            <a:off x="914400" y="3579875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tx"/>
          <p:cNvSpPr>
            <a:spLocks noGrp="1"/>
          </p:cNvSpPr>
          <p:nvPr/>
        </p:nvSpPr>
        <p:spPr>
          <a:xfrm>
            <a:off x="1417320" y="3200399"/>
            <a:ext cx="2514600" cy="105156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/>
            <a:r>
              <a:rPr lang="en-US" sz="1800" b="1" i="0" dirty="0">
                <a:solidFill>
                  <a:srgbClr val="0F172A"/>
                </a:solidFill>
                <a:latin typeface="Cambria"/>
              </a:rPr>
              <a:t>Quality</a:t>
            </a:r>
          </a:p>
        </p:txBody>
      </p:sp>
      <p:sp>
        <p:nvSpPr>
          <p:cNvPr id="20" name="bx"/>
          <p:cNvSpPr>
            <a:spLocks noGrp="1"/>
          </p:cNvSpPr>
          <p:nvPr/>
        </p:nvSpPr>
        <p:spPr>
          <a:xfrm>
            <a:off x="4343400" y="3200399"/>
            <a:ext cx="3429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>
              <a:srgbClr val="0F172A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c"/>
          <p:cNvSpPr>
            <a:spLocks noGrp="1"/>
          </p:cNvSpPr>
          <p:nvPr/>
        </p:nvSpPr>
        <p:spPr>
          <a:xfrm>
            <a:off x="4617720" y="3579875"/>
            <a:ext cx="292608" cy="29260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tx"/>
          <p:cNvSpPr>
            <a:spLocks noGrp="1"/>
          </p:cNvSpPr>
          <p:nvPr/>
        </p:nvSpPr>
        <p:spPr>
          <a:xfrm>
            <a:off x="5120640" y="3200399"/>
            <a:ext cx="2514600" cy="105156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/>
            <a:r>
              <a:rPr lang="en-US" sz="1800" b="1" i="0" dirty="0">
                <a:solidFill>
                  <a:srgbClr val="0F172A"/>
                </a:solidFill>
                <a:latin typeface="Cambria"/>
              </a:rPr>
              <a:t>Risks</a:t>
            </a:r>
          </a:p>
        </p:txBody>
      </p:sp>
      <p:sp>
        <p:nvSpPr>
          <p:cNvPr id="23" name="bx"/>
          <p:cNvSpPr>
            <a:spLocks noGrp="1"/>
          </p:cNvSpPr>
          <p:nvPr/>
        </p:nvSpPr>
        <p:spPr>
          <a:xfrm>
            <a:off x="8046720" y="3200399"/>
            <a:ext cx="3429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>
              <a:srgbClr val="0F172A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c"/>
          <p:cNvSpPr>
            <a:spLocks noGrp="1"/>
          </p:cNvSpPr>
          <p:nvPr/>
        </p:nvSpPr>
        <p:spPr>
          <a:xfrm>
            <a:off x="8321040" y="3579875"/>
            <a:ext cx="292608" cy="29260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tx"/>
          <p:cNvSpPr>
            <a:spLocks noGrp="1"/>
          </p:cNvSpPr>
          <p:nvPr/>
        </p:nvSpPr>
        <p:spPr>
          <a:xfrm>
            <a:off x="8823960" y="3200399"/>
            <a:ext cx="2514600" cy="105156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/>
            <a:r>
              <a:rPr lang="en-US" sz="1800" b="1" i="0" dirty="0">
                <a:solidFill>
                  <a:srgbClr val="0F172A"/>
                </a:solidFill>
                <a:latin typeface="Cambria"/>
              </a:rPr>
              <a:t>Issues</a:t>
            </a:r>
          </a:p>
        </p:txBody>
      </p:sp>
      <p:sp>
        <p:nvSpPr>
          <p:cNvPr id="26" name="bx"/>
          <p:cNvSpPr>
            <a:spLocks noGrp="1"/>
          </p:cNvSpPr>
          <p:nvPr/>
        </p:nvSpPr>
        <p:spPr>
          <a:xfrm>
            <a:off x="640080" y="4526280"/>
            <a:ext cx="10789920" cy="14173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tx"/>
          <p:cNvSpPr>
            <a:spLocks noGrp="1"/>
          </p:cNvSpPr>
          <p:nvPr/>
        </p:nvSpPr>
        <p:spPr>
          <a:xfrm>
            <a:off x="914400" y="4727448"/>
            <a:ext cx="10241280" cy="36576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300" b="1" i="0" dirty="0">
                <a:solidFill>
                  <a:srgbClr val="FBBF24"/>
                </a:solidFill>
                <a:latin typeface="Calibri"/>
              </a:rPr>
              <a:t>TWO RULES YOU CAN'T SKIP</a:t>
            </a:r>
          </a:p>
        </p:txBody>
      </p:sp>
      <p:sp>
        <p:nvSpPr>
          <p:cNvPr id="28" name="tx"/>
          <p:cNvSpPr>
            <a:spLocks noGrp="1"/>
          </p:cNvSpPr>
          <p:nvPr/>
        </p:nvSpPr>
        <p:spPr>
          <a:xfrm>
            <a:off x="914400" y="5093208"/>
            <a:ext cx="10241280" cy="82296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256032" indent="-256032">
              <a:spcAft>
                <a:spcPts val="700"/>
              </a:spcAft>
              <a:buClr>
                <a:srgbClr val="FBBF24"/>
              </a:buClr>
              <a:buChar char="●"/>
            </a:pPr>
            <a:r>
              <a:rPr lang="en-US" sz="1350" b="0" i="0" dirty="0">
                <a:solidFill>
                  <a:srgbClr val="E2E8F0"/>
                </a:solidFill>
                <a:latin typeface="Calibri"/>
              </a:rPr>
              <a:t>Overall Health is DERIVED from the six indicators — fix the indicators, don't fudge the headline.</a:t>
            </a:r>
          </a:p>
          <a:p>
            <a:pPr marL="256032" indent="-256032">
              <a:spcAft>
                <a:spcPts val="0"/>
              </a:spcAft>
              <a:buClr>
                <a:srgbClr val="FBBF24"/>
              </a:buClr>
              <a:buChar char="●"/>
            </a:pPr>
            <a:r>
              <a:rPr lang="en-US" sz="1350" b="0" i="0" dirty="0">
                <a:solidFill>
                  <a:srgbClr val="E2E8F0"/>
                </a:solidFill>
                <a:latin typeface="Calibri"/>
              </a:rPr>
              <a:t>Any indicator that is NOT Green requires a comment explaining why (and what you're doing about it).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x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c"/>
          <p:cNvSpPr>
            <a:spLocks noGrp="1"/>
          </p:cNvSpPr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c"/>
          <p:cNvSpPr>
            <a:spLocks noGrp="1"/>
          </p:cNvSpPr>
          <p:nvPr/>
        </p:nvSpPr>
        <p:spPr>
          <a:xfrm>
            <a:off x="841248" y="566928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c"/>
          <p:cNvSpPr>
            <a:spLocks noGrp="1"/>
          </p:cNvSpPr>
          <p:nvPr/>
        </p:nvSpPr>
        <p:spPr>
          <a:xfrm>
            <a:off x="1042416" y="566928"/>
            <a:ext cx="146304" cy="14630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tx"/>
          <p:cNvSpPr>
            <a:spLocks noGrp="1"/>
          </p:cNvSpPr>
          <p:nvPr/>
        </p:nvSpPr>
        <p:spPr>
          <a:xfrm>
            <a:off x="1097280" y="457200"/>
            <a:ext cx="10058400" cy="32004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200" b="1" i="0" dirty="0">
                <a:solidFill>
                  <a:srgbClr val="2563EB"/>
                </a:solidFill>
                <a:latin typeface="Calibri"/>
              </a:rPr>
              <a:t>GUARDRAILS</a:t>
            </a:r>
          </a:p>
        </p:txBody>
      </p:sp>
      <p:sp>
        <p:nvSpPr>
          <p:cNvPr id="7" name="tx"/>
          <p:cNvSpPr>
            <a:spLocks noGrp="1"/>
          </p:cNvSpPr>
          <p:nvPr/>
        </p:nvSpPr>
        <p:spPr>
          <a:xfrm>
            <a:off x="640080" y="777240"/>
            <a:ext cx="10972800" cy="82296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3000" b="1" i="0" dirty="0">
                <a:solidFill>
                  <a:srgbClr val="0F172A"/>
                </a:solidFill>
                <a:latin typeface="Cambria"/>
              </a:rPr>
              <a:t>What Green, Amber and Red actually mean</a:t>
            </a:r>
          </a:p>
        </p:txBody>
      </p:sp>
      <p:sp>
        <p:nvSpPr>
          <p:cNvPr id="8" name="bx"/>
          <p:cNvSpPr>
            <a:spLocks noGrp="1"/>
          </p:cNvSpPr>
          <p:nvPr/>
        </p:nvSpPr>
        <p:spPr>
          <a:xfrm>
            <a:off x="640080" y="1874519"/>
            <a:ext cx="35204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>
              <a:srgbClr val="0F172A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bx"/>
          <p:cNvSpPr>
            <a:spLocks noGrp="1"/>
          </p:cNvSpPr>
          <p:nvPr/>
        </p:nvSpPr>
        <p:spPr>
          <a:xfrm>
            <a:off x="640080" y="1874519"/>
            <a:ext cx="3520440" cy="868680"/>
          </a:xfrm>
          <a:prstGeom prst="roundRect">
            <a:avLst/>
          </a:prstGeom>
          <a:solidFill>
            <a:srgbClr val="E2F6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c"/>
          <p:cNvSpPr>
            <a:spLocks noGrp="1"/>
          </p:cNvSpPr>
          <p:nvPr/>
        </p:nvSpPr>
        <p:spPr>
          <a:xfrm>
            <a:off x="932688" y="2148839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tx"/>
          <p:cNvSpPr>
            <a:spLocks noGrp="1"/>
          </p:cNvSpPr>
          <p:nvPr/>
        </p:nvSpPr>
        <p:spPr>
          <a:xfrm>
            <a:off x="1463040" y="2002535"/>
            <a:ext cx="2514600" cy="36576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700" b="1" i="0" dirty="0">
                <a:solidFill>
                  <a:srgbClr val="10B981"/>
                </a:solidFill>
                <a:latin typeface="Cambria"/>
              </a:rPr>
              <a:t>GREEN</a:t>
            </a:r>
          </a:p>
        </p:txBody>
      </p:sp>
      <p:sp>
        <p:nvSpPr>
          <p:cNvPr id="12" name="tx"/>
          <p:cNvSpPr>
            <a:spLocks noGrp="1"/>
          </p:cNvSpPr>
          <p:nvPr/>
        </p:nvSpPr>
        <p:spPr>
          <a:xfrm>
            <a:off x="1463040" y="2377439"/>
            <a:ext cx="2514600" cy="32004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250" b="1" i="0" dirty="0">
                <a:solidFill>
                  <a:srgbClr val="475569"/>
                </a:solidFill>
                <a:latin typeface="Calibri"/>
              </a:rPr>
              <a:t>On track</a:t>
            </a:r>
          </a:p>
        </p:txBody>
      </p:sp>
      <p:sp>
        <p:nvSpPr>
          <p:cNvPr id="13" name="tx"/>
          <p:cNvSpPr>
            <a:spLocks noGrp="1"/>
          </p:cNvSpPr>
          <p:nvPr/>
        </p:nvSpPr>
        <p:spPr>
          <a:xfrm>
            <a:off x="932688" y="3017519"/>
            <a:ext cx="2971800" cy="2651759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256032" indent="-256032">
              <a:spcAft>
                <a:spcPts val="900"/>
              </a:spcAft>
              <a:buClr>
                <a:srgbClr val="10B981"/>
              </a:buClr>
              <a:buChar char="●"/>
            </a:pPr>
            <a:r>
              <a:rPr lang="en-US" sz="1300" b="0" i="0" dirty="0">
                <a:solidFill>
                  <a:srgbClr val="0F172A"/>
                </a:solidFill>
                <a:latin typeface="Calibri"/>
              </a:rPr>
              <a:t>Scope, time &amp; cost as planned</a:t>
            </a:r>
          </a:p>
          <a:p>
            <a:pPr marL="256032" indent="-256032">
              <a:spcAft>
                <a:spcPts val="900"/>
              </a:spcAft>
              <a:buClr>
                <a:srgbClr val="10B981"/>
              </a:buClr>
              <a:buChar char="●"/>
            </a:pPr>
            <a:r>
              <a:rPr lang="en-US" sz="1300" b="0" i="0" dirty="0">
                <a:solidFill>
                  <a:srgbClr val="0F172A"/>
                </a:solidFill>
                <a:latin typeface="Calibri"/>
              </a:rPr>
              <a:t>No help needed</a:t>
            </a:r>
          </a:p>
          <a:p>
            <a:pPr marL="256032" indent="-256032">
              <a:spcAft>
                <a:spcPts val="0"/>
              </a:spcAft>
              <a:buClr>
                <a:srgbClr val="10B981"/>
              </a:buClr>
              <a:buChar char="●"/>
            </a:pPr>
            <a:r>
              <a:rPr lang="en-US" sz="1300" b="0" i="0" dirty="0">
                <a:solidFill>
                  <a:srgbClr val="0F172A"/>
                </a:solidFill>
                <a:latin typeface="Calibri"/>
              </a:rPr>
              <a:t>Keep it honest — green isn't a default</a:t>
            </a:r>
          </a:p>
        </p:txBody>
      </p:sp>
      <p:sp>
        <p:nvSpPr>
          <p:cNvPr id="14" name="bx"/>
          <p:cNvSpPr>
            <a:spLocks noGrp="1"/>
          </p:cNvSpPr>
          <p:nvPr/>
        </p:nvSpPr>
        <p:spPr>
          <a:xfrm>
            <a:off x="4416552" y="1874519"/>
            <a:ext cx="35204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>
              <a:srgbClr val="0F172A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bx"/>
          <p:cNvSpPr>
            <a:spLocks noGrp="1"/>
          </p:cNvSpPr>
          <p:nvPr/>
        </p:nvSpPr>
        <p:spPr>
          <a:xfrm>
            <a:off x="4416552" y="1874519"/>
            <a:ext cx="3520440" cy="868680"/>
          </a:xfrm>
          <a:prstGeom prst="roundRect">
            <a:avLst/>
          </a:prstGeom>
          <a:solidFill>
            <a:srgbClr val="FDF3D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c"/>
          <p:cNvSpPr>
            <a:spLocks noGrp="1"/>
          </p:cNvSpPr>
          <p:nvPr/>
        </p:nvSpPr>
        <p:spPr>
          <a:xfrm>
            <a:off x="4709160" y="2148839"/>
            <a:ext cx="329184" cy="32918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tx"/>
          <p:cNvSpPr>
            <a:spLocks noGrp="1"/>
          </p:cNvSpPr>
          <p:nvPr/>
        </p:nvSpPr>
        <p:spPr>
          <a:xfrm>
            <a:off x="5239512" y="2002535"/>
            <a:ext cx="2514600" cy="36576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700" b="1" i="0" dirty="0">
                <a:solidFill>
                  <a:srgbClr val="F59E0B"/>
                </a:solidFill>
                <a:latin typeface="Cambria"/>
              </a:rPr>
              <a:t>AMBER</a:t>
            </a:r>
          </a:p>
        </p:txBody>
      </p:sp>
      <p:sp>
        <p:nvSpPr>
          <p:cNvPr id="18" name="tx"/>
          <p:cNvSpPr>
            <a:spLocks noGrp="1"/>
          </p:cNvSpPr>
          <p:nvPr/>
        </p:nvSpPr>
        <p:spPr>
          <a:xfrm>
            <a:off x="5239512" y="2377439"/>
            <a:ext cx="2514600" cy="32004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250" b="1" i="0" dirty="0">
                <a:solidFill>
                  <a:srgbClr val="475569"/>
                </a:solidFill>
                <a:latin typeface="Calibri"/>
              </a:rPr>
              <a:t>Needs monitoring</a:t>
            </a:r>
          </a:p>
        </p:txBody>
      </p:sp>
      <p:sp>
        <p:nvSpPr>
          <p:cNvPr id="19" name="tx"/>
          <p:cNvSpPr>
            <a:spLocks noGrp="1"/>
          </p:cNvSpPr>
          <p:nvPr/>
        </p:nvSpPr>
        <p:spPr>
          <a:xfrm>
            <a:off x="4709160" y="3017519"/>
            <a:ext cx="2971800" cy="2651759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256032" indent="-256032">
              <a:spcAft>
                <a:spcPts val="900"/>
              </a:spcAft>
              <a:buClr>
                <a:srgbClr val="F59E0B"/>
              </a:buClr>
              <a:buChar char="●"/>
            </a:pPr>
            <a:r>
              <a:rPr lang="en-US" sz="1300" b="0" i="0" dirty="0">
                <a:solidFill>
                  <a:srgbClr val="0F172A"/>
                </a:solidFill>
                <a:latin typeface="Calibri"/>
              </a:rPr>
              <a:t>A concern that could become a problem</a:t>
            </a:r>
          </a:p>
          <a:p>
            <a:pPr marL="256032" indent="-256032">
              <a:spcAft>
                <a:spcPts val="900"/>
              </a:spcAft>
              <a:buClr>
                <a:srgbClr val="F59E0B"/>
              </a:buClr>
              <a:buChar char="●"/>
            </a:pPr>
            <a:r>
              <a:rPr lang="en-US" sz="1300" b="0" i="0" dirty="0">
                <a:solidFill>
                  <a:srgbClr val="0F172A"/>
                </a:solidFill>
                <a:latin typeface="Calibri"/>
              </a:rPr>
              <a:t>You have a plan, but flag it</a:t>
            </a:r>
          </a:p>
          <a:p>
            <a:pPr marL="256032" indent="-256032">
              <a:spcAft>
                <a:spcPts val="0"/>
              </a:spcAft>
              <a:buClr>
                <a:srgbClr val="F59E0B"/>
              </a:buClr>
              <a:buChar char="●"/>
            </a:pPr>
            <a:r>
              <a:rPr lang="en-US" sz="1300" b="0" i="0" dirty="0">
                <a:solidFill>
                  <a:srgbClr val="0F172A"/>
                </a:solidFill>
                <a:latin typeface="Calibri"/>
              </a:rPr>
              <a:t>Say what moves it back to green</a:t>
            </a:r>
          </a:p>
        </p:txBody>
      </p:sp>
      <p:sp>
        <p:nvSpPr>
          <p:cNvPr id="20" name="bx"/>
          <p:cNvSpPr>
            <a:spLocks noGrp="1"/>
          </p:cNvSpPr>
          <p:nvPr/>
        </p:nvSpPr>
        <p:spPr>
          <a:xfrm>
            <a:off x="8193024" y="1874519"/>
            <a:ext cx="35204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>
              <a:srgbClr val="0F172A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bx"/>
          <p:cNvSpPr>
            <a:spLocks noGrp="1"/>
          </p:cNvSpPr>
          <p:nvPr/>
        </p:nvSpPr>
        <p:spPr>
          <a:xfrm>
            <a:off x="8193024" y="1874519"/>
            <a:ext cx="3520440" cy="868680"/>
          </a:xfrm>
          <a:prstGeom prst="roundRect">
            <a:avLst/>
          </a:prstGeom>
          <a:solidFill>
            <a:srgbClr val="FBEA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c"/>
          <p:cNvSpPr>
            <a:spLocks noGrp="1"/>
          </p:cNvSpPr>
          <p:nvPr/>
        </p:nvSpPr>
        <p:spPr>
          <a:xfrm>
            <a:off x="8485632" y="2148839"/>
            <a:ext cx="329184" cy="32918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tx"/>
          <p:cNvSpPr>
            <a:spLocks noGrp="1"/>
          </p:cNvSpPr>
          <p:nvPr/>
        </p:nvSpPr>
        <p:spPr>
          <a:xfrm>
            <a:off x="9015984" y="2002535"/>
            <a:ext cx="2514600" cy="36576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700" b="1" i="0" dirty="0">
                <a:solidFill>
                  <a:srgbClr val="EF4444"/>
                </a:solidFill>
                <a:latin typeface="Cambria"/>
              </a:rPr>
              <a:t>RED</a:t>
            </a:r>
          </a:p>
        </p:txBody>
      </p:sp>
      <p:sp>
        <p:nvSpPr>
          <p:cNvPr id="24" name="tx"/>
          <p:cNvSpPr>
            <a:spLocks noGrp="1"/>
          </p:cNvSpPr>
          <p:nvPr/>
        </p:nvSpPr>
        <p:spPr>
          <a:xfrm>
            <a:off x="9015984" y="2377439"/>
            <a:ext cx="2514600" cy="32004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250" b="1" i="0" dirty="0">
                <a:solidFill>
                  <a:srgbClr val="475569"/>
                </a:solidFill>
                <a:latin typeface="Calibri"/>
              </a:rPr>
              <a:t>Needs action</a:t>
            </a:r>
          </a:p>
        </p:txBody>
      </p:sp>
      <p:sp>
        <p:nvSpPr>
          <p:cNvPr id="25" name="tx"/>
          <p:cNvSpPr>
            <a:spLocks noGrp="1"/>
          </p:cNvSpPr>
          <p:nvPr/>
        </p:nvSpPr>
        <p:spPr>
          <a:xfrm>
            <a:off x="8485632" y="3017519"/>
            <a:ext cx="2971800" cy="2651759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256032" indent="-256032">
              <a:spcAft>
                <a:spcPts val="900"/>
              </a:spcAft>
              <a:buClr>
                <a:srgbClr val="EF4444"/>
              </a:buClr>
              <a:buChar char="●"/>
            </a:pPr>
            <a:r>
              <a:rPr lang="en-US" sz="1300" b="0" i="0" dirty="0">
                <a:solidFill>
                  <a:srgbClr val="0F172A"/>
                </a:solidFill>
                <a:latin typeface="Calibri"/>
              </a:rPr>
              <a:t>Off track — impact is real now</a:t>
            </a:r>
          </a:p>
          <a:p>
            <a:pPr marL="256032" indent="-256032">
              <a:spcAft>
                <a:spcPts val="900"/>
              </a:spcAft>
              <a:buClr>
                <a:srgbClr val="EF4444"/>
              </a:buClr>
              <a:buChar char="●"/>
            </a:pPr>
            <a:r>
              <a:rPr lang="en-US" sz="1300" b="0" i="0" dirty="0">
                <a:solidFill>
                  <a:srgbClr val="0F172A"/>
                </a:solidFill>
                <a:latin typeface="Calibri"/>
              </a:rPr>
              <a:t>Escalate; you need a decision or help</a:t>
            </a:r>
          </a:p>
          <a:p>
            <a:pPr marL="256032" indent="-256032">
              <a:spcAft>
                <a:spcPts val="0"/>
              </a:spcAft>
              <a:buClr>
                <a:srgbClr val="EF4444"/>
              </a:buClr>
              <a:buChar char="●"/>
            </a:pPr>
            <a:r>
              <a:rPr lang="en-US" sz="1300" b="0" i="0" dirty="0">
                <a:solidFill>
                  <a:srgbClr val="0F172A"/>
                </a:solidFill>
                <a:latin typeface="Calibri"/>
              </a:rPr>
              <a:t>Never leave red without a comment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x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c"/>
          <p:cNvSpPr>
            <a:spLocks noGrp="1"/>
          </p:cNvSpPr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c"/>
          <p:cNvSpPr>
            <a:spLocks noGrp="1"/>
          </p:cNvSpPr>
          <p:nvPr/>
        </p:nvSpPr>
        <p:spPr>
          <a:xfrm>
            <a:off x="841248" y="566928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c"/>
          <p:cNvSpPr>
            <a:spLocks noGrp="1"/>
          </p:cNvSpPr>
          <p:nvPr/>
        </p:nvSpPr>
        <p:spPr>
          <a:xfrm>
            <a:off x="1042416" y="566928"/>
            <a:ext cx="146304" cy="14630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tx"/>
          <p:cNvSpPr>
            <a:spLocks noGrp="1"/>
          </p:cNvSpPr>
          <p:nvPr/>
        </p:nvSpPr>
        <p:spPr>
          <a:xfrm>
            <a:off x="1097280" y="457200"/>
            <a:ext cx="10058400" cy="32004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200" b="1" i="0" dirty="0">
                <a:solidFill>
                  <a:srgbClr val="2563EB"/>
                </a:solidFill>
                <a:latin typeface="Calibri"/>
              </a:rPr>
              <a:t>MILESTONES</a:t>
            </a:r>
          </a:p>
        </p:txBody>
      </p:sp>
      <p:sp>
        <p:nvSpPr>
          <p:cNvPr id="7" name="tx"/>
          <p:cNvSpPr>
            <a:spLocks noGrp="1"/>
          </p:cNvSpPr>
          <p:nvPr/>
        </p:nvSpPr>
        <p:spPr>
          <a:xfrm>
            <a:off x="640080" y="777240"/>
            <a:ext cx="10972800" cy="82296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3000" b="1" i="0" dirty="0">
                <a:solidFill>
                  <a:srgbClr val="0F172A"/>
                </a:solidFill>
                <a:latin typeface="Cambria"/>
              </a:rPr>
              <a:t>Milestones every delivery should carry</a:t>
            </a:r>
          </a:p>
        </p:txBody>
      </p:sp>
      <p:sp>
        <p:nvSpPr>
          <p:cNvPr id="8" name="c"/>
          <p:cNvSpPr>
            <a:spLocks noGrp="1"/>
          </p:cNvSpPr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tx"/>
          <p:cNvSpPr>
            <a:spLocks noGrp="1"/>
          </p:cNvSpPr>
          <p:nvPr/>
        </p:nvSpPr>
        <p:spPr>
          <a:xfrm>
            <a:off x="640080" y="1828800"/>
            <a:ext cx="457200" cy="4572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/>
            <a:r>
              <a:rPr lang="en-US" sz="1200" b="1" i="0" dirty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x"/>
          <p:cNvSpPr>
            <a:spLocks noGrp="1"/>
          </p:cNvSpPr>
          <p:nvPr/>
        </p:nvSpPr>
        <p:spPr>
          <a:xfrm>
            <a:off x="1325880" y="1828800"/>
            <a:ext cx="6949440" cy="566928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/>
            <a:r>
              <a:rPr lang="en-US" sz="1550" b="0" i="0" dirty="0">
                <a:solidFill>
                  <a:srgbClr val="0F172A"/>
                </a:solidFill>
                <a:latin typeface="Calibri"/>
              </a:rPr>
              <a:t>Project Kickoff / Initiation</a:t>
            </a:r>
          </a:p>
        </p:txBody>
      </p:sp>
      <p:sp>
        <p:nvSpPr>
          <p:cNvPr id="11" name="c"/>
          <p:cNvSpPr>
            <a:spLocks noGrp="1"/>
          </p:cNvSpPr>
          <p:nvPr/>
        </p:nvSpPr>
        <p:spPr>
          <a:xfrm>
            <a:off x="640080" y="2450592"/>
            <a:ext cx="457200" cy="4572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tx"/>
          <p:cNvSpPr>
            <a:spLocks noGrp="1"/>
          </p:cNvSpPr>
          <p:nvPr/>
        </p:nvSpPr>
        <p:spPr>
          <a:xfrm>
            <a:off x="640080" y="2450592"/>
            <a:ext cx="457200" cy="4572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/>
            <a:r>
              <a:rPr lang="en-US" sz="1200" b="1" i="0" dirty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3" name="tx"/>
          <p:cNvSpPr>
            <a:spLocks noGrp="1"/>
          </p:cNvSpPr>
          <p:nvPr/>
        </p:nvSpPr>
        <p:spPr>
          <a:xfrm>
            <a:off x="1325880" y="2450592"/>
            <a:ext cx="6949440" cy="566928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/>
            <a:r>
              <a:rPr lang="en-US" sz="1550" b="0" i="0" dirty="0">
                <a:solidFill>
                  <a:srgbClr val="0F172A"/>
                </a:solidFill>
                <a:latin typeface="Calibri"/>
              </a:rPr>
              <a:t>Requirements / BU Sign-off</a:t>
            </a:r>
          </a:p>
        </p:txBody>
      </p:sp>
      <p:sp>
        <p:nvSpPr>
          <p:cNvPr id="14" name="c"/>
          <p:cNvSpPr>
            <a:spLocks noGrp="1"/>
          </p:cNvSpPr>
          <p:nvPr/>
        </p:nvSpPr>
        <p:spPr>
          <a:xfrm>
            <a:off x="640080" y="3072384"/>
            <a:ext cx="457200" cy="4572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tx"/>
          <p:cNvSpPr>
            <a:spLocks noGrp="1"/>
          </p:cNvSpPr>
          <p:nvPr/>
        </p:nvSpPr>
        <p:spPr>
          <a:xfrm>
            <a:off x="640080" y="3072384"/>
            <a:ext cx="457200" cy="4572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/>
            <a:r>
              <a:rPr lang="en-US" sz="1200" b="1" i="0" dirty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6" name="tx"/>
          <p:cNvSpPr>
            <a:spLocks noGrp="1"/>
          </p:cNvSpPr>
          <p:nvPr/>
        </p:nvSpPr>
        <p:spPr>
          <a:xfrm>
            <a:off x="1325880" y="3072384"/>
            <a:ext cx="6949440" cy="566928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/>
            <a:r>
              <a:rPr lang="en-US" sz="1550" b="0" i="0" dirty="0">
                <a:solidFill>
                  <a:srgbClr val="0F172A"/>
                </a:solidFill>
                <a:latin typeface="Calibri"/>
              </a:rPr>
              <a:t>Design / Solution Approval</a:t>
            </a:r>
          </a:p>
        </p:txBody>
      </p:sp>
      <p:sp>
        <p:nvSpPr>
          <p:cNvPr id="17" name="c"/>
          <p:cNvSpPr>
            <a:spLocks noGrp="1"/>
          </p:cNvSpPr>
          <p:nvPr/>
        </p:nvSpPr>
        <p:spPr>
          <a:xfrm>
            <a:off x="640080" y="3694176"/>
            <a:ext cx="457200" cy="4572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tx"/>
          <p:cNvSpPr>
            <a:spLocks noGrp="1"/>
          </p:cNvSpPr>
          <p:nvPr/>
        </p:nvSpPr>
        <p:spPr>
          <a:xfrm>
            <a:off x="640080" y="3694176"/>
            <a:ext cx="457200" cy="4572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/>
            <a:r>
              <a:rPr lang="en-US" sz="1200" b="1" i="0" dirty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9" name="tx"/>
          <p:cNvSpPr>
            <a:spLocks noGrp="1"/>
          </p:cNvSpPr>
          <p:nvPr/>
        </p:nvSpPr>
        <p:spPr>
          <a:xfrm>
            <a:off x="1325880" y="3694176"/>
            <a:ext cx="6949440" cy="566928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/>
            <a:r>
              <a:rPr lang="en-US" sz="1550" b="0" i="0" dirty="0">
                <a:solidFill>
                  <a:srgbClr val="0F172A"/>
                </a:solidFill>
                <a:latin typeface="Calibri"/>
              </a:rPr>
              <a:t>Build / Development Complete</a:t>
            </a:r>
          </a:p>
        </p:txBody>
      </p:sp>
      <p:sp>
        <p:nvSpPr>
          <p:cNvPr id="20" name="c"/>
          <p:cNvSpPr>
            <a:spLocks noGrp="1"/>
          </p:cNvSpPr>
          <p:nvPr/>
        </p:nvSpPr>
        <p:spPr>
          <a:xfrm>
            <a:off x="640080" y="4315968"/>
            <a:ext cx="457200" cy="4572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tx"/>
          <p:cNvSpPr>
            <a:spLocks noGrp="1"/>
          </p:cNvSpPr>
          <p:nvPr/>
        </p:nvSpPr>
        <p:spPr>
          <a:xfrm>
            <a:off x="640080" y="4315968"/>
            <a:ext cx="457200" cy="4572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/>
            <a:r>
              <a:rPr lang="en-US" sz="1200" b="1" i="0" dirty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2" name="tx"/>
          <p:cNvSpPr>
            <a:spLocks noGrp="1"/>
          </p:cNvSpPr>
          <p:nvPr/>
        </p:nvSpPr>
        <p:spPr>
          <a:xfrm>
            <a:off x="1325880" y="4315968"/>
            <a:ext cx="6949440" cy="566928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/>
            <a:r>
              <a:rPr lang="en-US" sz="1550" b="0" i="0" dirty="0">
                <a:solidFill>
                  <a:srgbClr val="0F172A"/>
                </a:solidFill>
                <a:latin typeface="Calibri"/>
              </a:rPr>
              <a:t>UAT / Testing Complete</a:t>
            </a:r>
          </a:p>
        </p:txBody>
      </p:sp>
      <p:sp>
        <p:nvSpPr>
          <p:cNvPr id="23" name="c"/>
          <p:cNvSpPr>
            <a:spLocks noGrp="1"/>
          </p:cNvSpPr>
          <p:nvPr/>
        </p:nvSpPr>
        <p:spPr>
          <a:xfrm>
            <a:off x="640080" y="493776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tx"/>
          <p:cNvSpPr>
            <a:spLocks noGrp="1"/>
          </p:cNvSpPr>
          <p:nvPr/>
        </p:nvSpPr>
        <p:spPr>
          <a:xfrm>
            <a:off x="640080" y="4937760"/>
            <a:ext cx="457200" cy="4572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/>
            <a:r>
              <a:rPr lang="en-US" sz="1200" b="1" i="0" dirty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5" name="tx"/>
          <p:cNvSpPr>
            <a:spLocks noGrp="1"/>
          </p:cNvSpPr>
          <p:nvPr/>
        </p:nvSpPr>
        <p:spPr>
          <a:xfrm>
            <a:off x="1325880" y="4937760"/>
            <a:ext cx="6949440" cy="566928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/>
            <a:r>
              <a:rPr lang="en-US" sz="1550" b="1" i="0" dirty="0">
                <a:solidFill>
                  <a:srgbClr val="0F172A"/>
                </a:solidFill>
                <a:latin typeface="Cambria"/>
              </a:rPr>
              <a:t>Go-Live / Deployment</a:t>
            </a:r>
          </a:p>
        </p:txBody>
      </p:sp>
      <p:sp>
        <p:nvSpPr>
          <p:cNvPr id="26" name="c"/>
          <p:cNvSpPr>
            <a:spLocks noGrp="1"/>
          </p:cNvSpPr>
          <p:nvPr/>
        </p:nvSpPr>
        <p:spPr>
          <a:xfrm>
            <a:off x="640080" y="5559552"/>
            <a:ext cx="457200" cy="4572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tx"/>
          <p:cNvSpPr>
            <a:spLocks noGrp="1"/>
          </p:cNvSpPr>
          <p:nvPr/>
        </p:nvSpPr>
        <p:spPr>
          <a:xfrm>
            <a:off x="640080" y="5559552"/>
            <a:ext cx="457200" cy="4572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/>
            <a:r>
              <a:rPr lang="en-US" sz="1200" b="1" i="0" dirty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28" name="tx"/>
          <p:cNvSpPr>
            <a:spLocks noGrp="1"/>
          </p:cNvSpPr>
          <p:nvPr/>
        </p:nvSpPr>
        <p:spPr>
          <a:xfrm>
            <a:off x="1325880" y="5559552"/>
            <a:ext cx="6949440" cy="566928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/>
            <a:r>
              <a:rPr lang="en-US" sz="1550" b="0" i="0" dirty="0">
                <a:solidFill>
                  <a:srgbClr val="0F172A"/>
                </a:solidFill>
                <a:latin typeface="Calibri"/>
              </a:rPr>
              <a:t>Post-Go-Live Review / Closure</a:t>
            </a:r>
          </a:p>
        </p:txBody>
      </p:sp>
      <p:sp>
        <p:nvSpPr>
          <p:cNvPr id="29" name="bx"/>
          <p:cNvSpPr>
            <a:spLocks noGrp="1"/>
          </p:cNvSpPr>
          <p:nvPr/>
        </p:nvSpPr>
        <p:spPr>
          <a:xfrm>
            <a:off x="7955279" y="1828800"/>
            <a:ext cx="3474720" cy="416052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>
            <a:outerShdw blurRad="76200" dist="25400" dir="5400000">
              <a:srgbClr val="0F172A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tx"/>
          <p:cNvSpPr>
            <a:spLocks noGrp="1"/>
          </p:cNvSpPr>
          <p:nvPr/>
        </p:nvSpPr>
        <p:spPr>
          <a:xfrm>
            <a:off x="8229599" y="2057400"/>
            <a:ext cx="2926080" cy="4572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600" b="1" i="0" dirty="0">
                <a:solidFill>
                  <a:srgbClr val="FBBF24"/>
                </a:solidFill>
                <a:latin typeface="Cambria"/>
              </a:rPr>
              <a:t>Make them count</a:t>
            </a:r>
          </a:p>
        </p:txBody>
      </p:sp>
      <p:sp>
        <p:nvSpPr>
          <p:cNvPr id="31" name="tx"/>
          <p:cNvSpPr>
            <a:spLocks noGrp="1"/>
          </p:cNvSpPr>
          <p:nvPr/>
        </p:nvSpPr>
        <p:spPr>
          <a:xfrm>
            <a:off x="8229599" y="2560320"/>
            <a:ext cx="2971800" cy="329184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256032" indent="-256032">
              <a:spcAft>
                <a:spcPts val="700"/>
              </a:spcAft>
              <a:buClr>
                <a:srgbClr val="FBBF24"/>
              </a:buClr>
              <a:buChar char="●"/>
            </a:pPr>
            <a:r>
              <a:rPr lang="en-US" sz="1250" b="0" i="0" dirty="0">
                <a:solidFill>
                  <a:srgbClr val="E2E8F0"/>
                </a:solidFill>
                <a:latin typeface="Calibri"/>
              </a:rPr>
              <a:t>Meaningful &amp; verifiable — a clear 'done'</a:t>
            </a:r>
          </a:p>
          <a:p>
            <a:pPr marL="256032" indent="-256032">
              <a:spcAft>
                <a:spcPts val="700"/>
              </a:spcAft>
              <a:buClr>
                <a:srgbClr val="FBBF24"/>
              </a:buClr>
              <a:buChar char="●"/>
            </a:pPr>
            <a:r>
              <a:rPr lang="en-US" sz="1250" b="0" i="0" dirty="0">
                <a:solidFill>
                  <a:srgbClr val="E2E8F0"/>
                </a:solidFill>
                <a:latin typeface="Calibri"/>
              </a:rPr>
              <a:t>Dated: start and target end</a:t>
            </a:r>
          </a:p>
          <a:p>
            <a:pPr marL="256032" indent="-256032">
              <a:spcAft>
                <a:spcPts val="700"/>
              </a:spcAft>
              <a:buClr>
                <a:srgbClr val="FBBF24"/>
              </a:buClr>
              <a:buChar char="●"/>
            </a:pPr>
            <a:r>
              <a:rPr lang="en-US" sz="1250" b="0" i="0" dirty="0">
                <a:solidFill>
                  <a:srgbClr val="E2E8F0"/>
                </a:solidFill>
                <a:latin typeface="Calibri"/>
              </a:rPr>
              <a:t>Owned by someone accountable</a:t>
            </a:r>
          </a:p>
          <a:p>
            <a:pPr marL="256032" indent="-256032">
              <a:spcAft>
                <a:spcPts val="700"/>
              </a:spcAft>
              <a:buClr>
                <a:srgbClr val="FBBF24"/>
              </a:buClr>
              <a:buChar char="●"/>
            </a:pPr>
            <a:r>
              <a:rPr lang="en-US" sz="1250" b="0" i="0" dirty="0">
                <a:solidFill>
                  <a:srgbClr val="E2E8F0"/>
                </a:solidFill>
                <a:latin typeface="Calibri"/>
              </a:rPr>
              <a:t>Track outcomes, not every task</a:t>
            </a:r>
          </a:p>
          <a:p>
            <a:pPr marL="256032" indent="-256032">
              <a:spcAft>
                <a:spcPts val="0"/>
              </a:spcAft>
              <a:buClr>
                <a:srgbClr val="FBBF24"/>
              </a:buClr>
              <a:buChar char="●"/>
            </a:pPr>
            <a:r>
              <a:rPr lang="en-US" sz="1250" b="0" i="0" dirty="0">
                <a:solidFill>
                  <a:srgbClr val="E2E8F0"/>
                </a:solidFill>
                <a:latin typeface="Calibri"/>
              </a:rPr>
              <a:t>Go-Live is the one everyone watches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x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c"/>
          <p:cNvSpPr>
            <a:spLocks noGrp="1"/>
          </p:cNvSpPr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c"/>
          <p:cNvSpPr>
            <a:spLocks noGrp="1"/>
          </p:cNvSpPr>
          <p:nvPr/>
        </p:nvSpPr>
        <p:spPr>
          <a:xfrm>
            <a:off x="841248" y="566928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c"/>
          <p:cNvSpPr>
            <a:spLocks noGrp="1"/>
          </p:cNvSpPr>
          <p:nvPr/>
        </p:nvSpPr>
        <p:spPr>
          <a:xfrm>
            <a:off x="1042416" y="566928"/>
            <a:ext cx="146304" cy="14630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tx"/>
          <p:cNvSpPr>
            <a:spLocks noGrp="1"/>
          </p:cNvSpPr>
          <p:nvPr/>
        </p:nvSpPr>
        <p:spPr>
          <a:xfrm>
            <a:off x="1097280" y="457200"/>
            <a:ext cx="10058400" cy="32004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200" b="1" i="0" dirty="0">
                <a:solidFill>
                  <a:srgbClr val="2563EB"/>
                </a:solidFill>
                <a:latin typeface="Calibri"/>
              </a:rPr>
              <a:t>GUARDRAILS</a:t>
            </a:r>
          </a:p>
        </p:txBody>
      </p:sp>
      <p:sp>
        <p:nvSpPr>
          <p:cNvPr id="7" name="tx"/>
          <p:cNvSpPr>
            <a:spLocks noGrp="1"/>
          </p:cNvSpPr>
          <p:nvPr/>
        </p:nvSpPr>
        <p:spPr>
          <a:xfrm>
            <a:off x="640080" y="777240"/>
            <a:ext cx="10972800" cy="82296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3000" b="1" i="0" dirty="0">
                <a:solidFill>
                  <a:srgbClr val="0F172A"/>
                </a:solidFill>
                <a:latin typeface="Cambria"/>
              </a:rPr>
              <a:t>Populating milestones — do it right</a:t>
            </a:r>
          </a:p>
        </p:txBody>
      </p:sp>
      <p:sp>
        <p:nvSpPr>
          <p:cNvPr id="8" name="tx"/>
          <p:cNvSpPr>
            <a:spLocks noGrp="1"/>
          </p:cNvSpPr>
          <p:nvPr/>
        </p:nvSpPr>
        <p:spPr>
          <a:xfrm>
            <a:off x="640080" y="1920240"/>
            <a:ext cx="2743200" cy="32004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200" b="1" i="0" dirty="0">
                <a:solidFill>
                  <a:srgbClr val="64748B"/>
                </a:solidFill>
                <a:latin typeface="Calibri"/>
              </a:rPr>
              <a:t>STATUS VALUES</a:t>
            </a:r>
          </a:p>
        </p:txBody>
      </p:sp>
      <p:sp>
        <p:nvSpPr>
          <p:cNvPr id="9" name="bx"/>
          <p:cNvSpPr>
            <a:spLocks noGrp="1"/>
          </p:cNvSpPr>
          <p:nvPr/>
        </p:nvSpPr>
        <p:spPr>
          <a:xfrm>
            <a:off x="640080" y="2331720"/>
            <a:ext cx="1828800" cy="31089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tx"/>
          <p:cNvSpPr>
            <a:spLocks noGrp="1"/>
          </p:cNvSpPr>
          <p:nvPr/>
        </p:nvSpPr>
        <p:spPr>
          <a:xfrm>
            <a:off x="640080" y="2331720"/>
            <a:ext cx="1828800" cy="310896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/>
            <a:r>
              <a:rPr lang="en-US" sz="1200" b="1" i="0" dirty="0">
                <a:solidFill>
                  <a:srgbClr val="1E293B"/>
                </a:solidFill>
                <a:latin typeface="Calibri"/>
              </a:rPr>
              <a:t>Not Started</a:t>
            </a:r>
          </a:p>
        </p:txBody>
      </p:sp>
      <p:sp>
        <p:nvSpPr>
          <p:cNvPr id="11" name="bx"/>
          <p:cNvSpPr>
            <a:spLocks noGrp="1"/>
          </p:cNvSpPr>
          <p:nvPr/>
        </p:nvSpPr>
        <p:spPr>
          <a:xfrm>
            <a:off x="2651760" y="2331720"/>
            <a:ext cx="1828800" cy="310896"/>
          </a:xfrm>
          <a:prstGeom prst="roundRect">
            <a:avLst/>
          </a:prstGeom>
          <a:solidFill>
            <a:srgbClr val="FDF3D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tx"/>
          <p:cNvSpPr>
            <a:spLocks noGrp="1"/>
          </p:cNvSpPr>
          <p:nvPr/>
        </p:nvSpPr>
        <p:spPr>
          <a:xfrm>
            <a:off x="2651760" y="2331720"/>
            <a:ext cx="1828800" cy="310896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/>
            <a:r>
              <a:rPr lang="en-US" sz="1200" b="1" i="0" dirty="0">
                <a:solidFill>
                  <a:srgbClr val="F59E0B"/>
                </a:solidFill>
                <a:latin typeface="Calibri"/>
              </a:rPr>
              <a:t>In Progress</a:t>
            </a:r>
          </a:p>
        </p:txBody>
      </p:sp>
      <p:sp>
        <p:nvSpPr>
          <p:cNvPr id="13" name="bx"/>
          <p:cNvSpPr>
            <a:spLocks noGrp="1"/>
          </p:cNvSpPr>
          <p:nvPr/>
        </p:nvSpPr>
        <p:spPr>
          <a:xfrm>
            <a:off x="4663440" y="2331720"/>
            <a:ext cx="1828800" cy="310896"/>
          </a:xfrm>
          <a:prstGeom prst="roundRect">
            <a:avLst/>
          </a:prstGeom>
          <a:solidFill>
            <a:srgbClr val="E2F6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tx"/>
          <p:cNvSpPr>
            <a:spLocks noGrp="1"/>
          </p:cNvSpPr>
          <p:nvPr/>
        </p:nvSpPr>
        <p:spPr>
          <a:xfrm>
            <a:off x="4663440" y="2331720"/>
            <a:ext cx="1828800" cy="310896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/>
            <a:r>
              <a:rPr lang="en-US" sz="1200" b="1" i="0" dirty="0">
                <a:solidFill>
                  <a:srgbClr val="10B981"/>
                </a:solidFill>
                <a:latin typeface="Calibri"/>
              </a:rPr>
              <a:t>Completed</a:t>
            </a:r>
          </a:p>
        </p:txBody>
      </p:sp>
      <p:sp>
        <p:nvSpPr>
          <p:cNvPr id="15" name="bx"/>
          <p:cNvSpPr>
            <a:spLocks noGrp="1"/>
          </p:cNvSpPr>
          <p:nvPr/>
        </p:nvSpPr>
        <p:spPr>
          <a:xfrm>
            <a:off x="640080" y="3063240"/>
            <a:ext cx="10789920" cy="5669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tx"/>
          <p:cNvSpPr>
            <a:spLocks noGrp="1"/>
          </p:cNvSpPr>
          <p:nvPr/>
        </p:nvSpPr>
        <p:spPr>
          <a:xfrm>
            <a:off x="896112" y="3063240"/>
            <a:ext cx="3108960" cy="566928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/>
            <a:r>
              <a:rPr lang="en-US" sz="1350" b="1" i="0" dirty="0">
                <a:solidFill>
                  <a:srgbClr val="0F172A"/>
                </a:solidFill>
                <a:latin typeface="Calibri"/>
              </a:rPr>
              <a:t>Seeded from the tracker</a:t>
            </a:r>
          </a:p>
        </p:txBody>
      </p:sp>
      <p:sp>
        <p:nvSpPr>
          <p:cNvPr id="17" name="tx"/>
          <p:cNvSpPr>
            <a:spLocks noGrp="1"/>
          </p:cNvSpPr>
          <p:nvPr/>
        </p:nvSpPr>
        <p:spPr>
          <a:xfrm>
            <a:off x="4069080" y="3063240"/>
            <a:ext cx="7132320" cy="566928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/>
            <a:r>
              <a:rPr lang="en-US" sz="1200" b="0" i="0" dirty="0">
                <a:solidFill>
                  <a:srgbClr val="475569"/>
                </a:solidFill>
                <a:latin typeface="Calibri"/>
              </a:rPr>
              <a:t>Each report starts from the project's milestone tracker — its latest dates &amp; status. Edit what changed.</a:t>
            </a:r>
          </a:p>
        </p:txBody>
      </p:sp>
      <p:sp>
        <p:nvSpPr>
          <p:cNvPr id="18" name="bx"/>
          <p:cNvSpPr>
            <a:spLocks noGrp="1"/>
          </p:cNvSpPr>
          <p:nvPr/>
        </p:nvSpPr>
        <p:spPr>
          <a:xfrm>
            <a:off x="640080" y="3721608"/>
            <a:ext cx="10789920" cy="5669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tx"/>
          <p:cNvSpPr>
            <a:spLocks noGrp="1"/>
          </p:cNvSpPr>
          <p:nvPr/>
        </p:nvSpPr>
        <p:spPr>
          <a:xfrm>
            <a:off x="896112" y="3721608"/>
            <a:ext cx="3108960" cy="566928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/>
            <a:r>
              <a:rPr lang="en-US" sz="1350" b="1" i="0" dirty="0">
                <a:solidFill>
                  <a:srgbClr val="0F172A"/>
                </a:solidFill>
                <a:latin typeface="Calibri"/>
              </a:rPr>
              <a:t>Completed = locked</a:t>
            </a:r>
          </a:p>
        </p:txBody>
      </p:sp>
      <p:sp>
        <p:nvSpPr>
          <p:cNvPr id="20" name="tx"/>
          <p:cNvSpPr>
            <a:spLocks noGrp="1"/>
          </p:cNvSpPr>
          <p:nvPr/>
        </p:nvSpPr>
        <p:spPr>
          <a:xfrm>
            <a:off x="4069080" y="3721608"/>
            <a:ext cx="7132320" cy="566928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/>
            <a:r>
              <a:rPr lang="en-US" sz="1200" b="0" i="0" dirty="0">
                <a:solidFill>
                  <a:srgbClr val="475569"/>
                </a:solidFill>
                <a:latin typeface="Calibri"/>
              </a:rPr>
              <a:t>Marking a milestone Completed locks it. Only tick it when it's genuinely, verifiably done.</a:t>
            </a:r>
          </a:p>
        </p:txBody>
      </p:sp>
      <p:sp>
        <p:nvSpPr>
          <p:cNvPr id="21" name="bx"/>
          <p:cNvSpPr>
            <a:spLocks noGrp="1"/>
          </p:cNvSpPr>
          <p:nvPr/>
        </p:nvSpPr>
        <p:spPr>
          <a:xfrm>
            <a:off x="640080" y="4379976"/>
            <a:ext cx="10789920" cy="5669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tx"/>
          <p:cNvSpPr>
            <a:spLocks noGrp="1"/>
          </p:cNvSpPr>
          <p:nvPr/>
        </p:nvSpPr>
        <p:spPr>
          <a:xfrm>
            <a:off x="896112" y="4379976"/>
            <a:ext cx="3108960" cy="566928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/>
            <a:r>
              <a:rPr lang="en-US" sz="1350" b="1" i="0" dirty="0">
                <a:solidFill>
                  <a:srgbClr val="0F172A"/>
                </a:solidFill>
                <a:latin typeface="Calibri"/>
              </a:rPr>
              <a:t>Keep dates honest</a:t>
            </a:r>
          </a:p>
        </p:txBody>
      </p:sp>
      <p:sp>
        <p:nvSpPr>
          <p:cNvPr id="23" name="tx"/>
          <p:cNvSpPr>
            <a:spLocks noGrp="1"/>
          </p:cNvSpPr>
          <p:nvPr/>
        </p:nvSpPr>
        <p:spPr>
          <a:xfrm>
            <a:off x="4069080" y="4379976"/>
            <a:ext cx="7132320" cy="566928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/>
            <a:r>
              <a:rPr lang="en-US" sz="1200" b="0" i="0" dirty="0">
                <a:solidFill>
                  <a:srgbClr val="475569"/>
                </a:solidFill>
                <a:latin typeface="Calibri"/>
              </a:rPr>
              <a:t>Slipped a date? Move the target and turn Schedule Amber/Red with a comment — don't leave the old date.</a:t>
            </a:r>
          </a:p>
        </p:txBody>
      </p:sp>
      <p:sp>
        <p:nvSpPr>
          <p:cNvPr id="24" name="bx"/>
          <p:cNvSpPr>
            <a:spLocks noGrp="1"/>
          </p:cNvSpPr>
          <p:nvPr/>
        </p:nvSpPr>
        <p:spPr>
          <a:xfrm>
            <a:off x="640080" y="5038344"/>
            <a:ext cx="10789920" cy="5669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tx"/>
          <p:cNvSpPr>
            <a:spLocks noGrp="1"/>
          </p:cNvSpPr>
          <p:nvPr/>
        </p:nvSpPr>
        <p:spPr>
          <a:xfrm>
            <a:off x="896112" y="5038344"/>
            <a:ext cx="3108960" cy="566928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/>
            <a:r>
              <a:rPr lang="en-US" sz="1350" b="1" i="0" dirty="0">
                <a:solidFill>
                  <a:srgbClr val="0F172A"/>
                </a:solidFill>
                <a:latin typeface="Calibri"/>
              </a:rPr>
              <a:t>At least one milestone</a:t>
            </a:r>
          </a:p>
        </p:txBody>
      </p:sp>
      <p:sp>
        <p:nvSpPr>
          <p:cNvPr id="26" name="tx"/>
          <p:cNvSpPr>
            <a:spLocks noGrp="1"/>
          </p:cNvSpPr>
          <p:nvPr/>
        </p:nvSpPr>
        <p:spPr>
          <a:xfrm>
            <a:off x="4069080" y="5038344"/>
            <a:ext cx="7132320" cy="566928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/>
            <a:r>
              <a:rPr lang="en-US" sz="1200" b="0" i="0" dirty="0">
                <a:solidFill>
                  <a:srgbClr val="475569"/>
                </a:solidFill>
                <a:latin typeface="Calibri"/>
              </a:rPr>
              <a:t>A report needs milestones. An empty plan is a red flag in itself.</a:t>
            </a:r>
          </a:p>
        </p:txBody>
      </p:sp>
      <p:sp>
        <p:nvSpPr>
          <p:cNvPr id="27" name="bx"/>
          <p:cNvSpPr>
            <a:spLocks noGrp="1"/>
          </p:cNvSpPr>
          <p:nvPr/>
        </p:nvSpPr>
        <p:spPr>
          <a:xfrm>
            <a:off x="640080" y="5696712"/>
            <a:ext cx="10789920" cy="5669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" name="tx"/>
          <p:cNvSpPr>
            <a:spLocks noGrp="1"/>
          </p:cNvSpPr>
          <p:nvPr/>
        </p:nvSpPr>
        <p:spPr>
          <a:xfrm>
            <a:off x="896112" y="5696712"/>
            <a:ext cx="3108960" cy="566928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/>
            <a:r>
              <a:rPr lang="en-US" sz="1350" b="1" i="0" dirty="0">
                <a:solidFill>
                  <a:srgbClr val="0F172A"/>
                </a:solidFill>
                <a:latin typeface="Calibri"/>
              </a:rPr>
              <a:t>Don't back-fill history</a:t>
            </a:r>
          </a:p>
        </p:txBody>
      </p:sp>
      <p:sp>
        <p:nvSpPr>
          <p:cNvPr id="29" name="tx"/>
          <p:cNvSpPr>
            <a:spLocks noGrp="1"/>
          </p:cNvSpPr>
          <p:nvPr/>
        </p:nvSpPr>
        <p:spPr>
          <a:xfrm>
            <a:off x="4069080" y="5696712"/>
            <a:ext cx="7132320" cy="566928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/>
            <a:r>
              <a:rPr lang="en-US" sz="1200" b="0" i="0" dirty="0">
                <a:solidFill>
                  <a:srgbClr val="475569"/>
                </a:solidFill>
                <a:latin typeface="Calibri"/>
              </a:rPr>
              <a:t>You report the current week; closed weeks show what was true then and can't be edited.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x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c"/>
          <p:cNvSpPr>
            <a:spLocks noGrp="1"/>
          </p:cNvSpPr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c"/>
          <p:cNvSpPr>
            <a:spLocks noGrp="1"/>
          </p:cNvSpPr>
          <p:nvPr/>
        </p:nvSpPr>
        <p:spPr>
          <a:xfrm>
            <a:off x="841248" y="566928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c"/>
          <p:cNvSpPr>
            <a:spLocks noGrp="1"/>
          </p:cNvSpPr>
          <p:nvPr/>
        </p:nvSpPr>
        <p:spPr>
          <a:xfrm>
            <a:off x="1042416" y="566928"/>
            <a:ext cx="146304" cy="14630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tx"/>
          <p:cNvSpPr>
            <a:spLocks noGrp="1"/>
          </p:cNvSpPr>
          <p:nvPr/>
        </p:nvSpPr>
        <p:spPr>
          <a:xfrm>
            <a:off x="1097280" y="457200"/>
            <a:ext cx="10058400" cy="32004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200" b="1" i="0" dirty="0">
                <a:solidFill>
                  <a:srgbClr val="2563EB"/>
                </a:solidFill>
                <a:latin typeface="Calibri"/>
              </a:rPr>
              <a:t>REGISTER</a:t>
            </a:r>
          </a:p>
        </p:txBody>
      </p:sp>
      <p:sp>
        <p:nvSpPr>
          <p:cNvPr id="7" name="tx"/>
          <p:cNvSpPr>
            <a:spLocks noGrp="1"/>
          </p:cNvSpPr>
          <p:nvPr/>
        </p:nvSpPr>
        <p:spPr>
          <a:xfrm>
            <a:off x="640080" y="777240"/>
            <a:ext cx="10972800" cy="82296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3000" b="1" i="0" dirty="0">
                <a:solidFill>
                  <a:srgbClr val="0F172A"/>
                </a:solidFill>
                <a:latin typeface="Cambria"/>
              </a:rPr>
              <a:t>Risks &amp; Issues — keep the register alive</a:t>
            </a:r>
          </a:p>
        </p:txBody>
      </p:sp>
      <p:sp>
        <p:nvSpPr>
          <p:cNvPr id="8" name="bx"/>
          <p:cNvSpPr>
            <a:spLocks noGrp="1"/>
          </p:cNvSpPr>
          <p:nvPr/>
        </p:nvSpPr>
        <p:spPr>
          <a:xfrm>
            <a:off x="640080" y="1874519"/>
            <a:ext cx="51663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tx"/>
          <p:cNvSpPr>
            <a:spLocks noGrp="1"/>
          </p:cNvSpPr>
          <p:nvPr/>
        </p:nvSpPr>
        <p:spPr>
          <a:xfrm>
            <a:off x="896112" y="1993391"/>
            <a:ext cx="4709160" cy="32004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400" b="1" i="0" dirty="0">
                <a:solidFill>
                  <a:srgbClr val="0F172A"/>
                </a:solidFill>
                <a:latin typeface="Calibri"/>
              </a:rPr>
              <a:t>Type</a:t>
            </a:r>
          </a:p>
        </p:txBody>
      </p:sp>
      <p:sp>
        <p:nvSpPr>
          <p:cNvPr id="10" name="tx"/>
          <p:cNvSpPr>
            <a:spLocks noGrp="1"/>
          </p:cNvSpPr>
          <p:nvPr/>
        </p:nvSpPr>
        <p:spPr>
          <a:xfrm>
            <a:off x="896112" y="2304287"/>
            <a:ext cx="4709160" cy="292608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200" b="0" i="0" dirty="0">
                <a:solidFill>
                  <a:srgbClr val="475569"/>
                </a:solidFill>
                <a:latin typeface="Calibri"/>
              </a:rPr>
              <a:t>Risk (might happen) or Issue (already happening).</a:t>
            </a:r>
          </a:p>
        </p:txBody>
      </p:sp>
      <p:sp>
        <p:nvSpPr>
          <p:cNvPr id="11" name="bx"/>
          <p:cNvSpPr>
            <a:spLocks noGrp="1"/>
          </p:cNvSpPr>
          <p:nvPr/>
        </p:nvSpPr>
        <p:spPr>
          <a:xfrm>
            <a:off x="6080760" y="1874519"/>
            <a:ext cx="51663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tx"/>
          <p:cNvSpPr>
            <a:spLocks noGrp="1"/>
          </p:cNvSpPr>
          <p:nvPr/>
        </p:nvSpPr>
        <p:spPr>
          <a:xfrm>
            <a:off x="6336792" y="1993391"/>
            <a:ext cx="4709160" cy="32004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400" b="1" i="0" dirty="0">
                <a:solidFill>
                  <a:srgbClr val="0F172A"/>
                </a:solidFill>
                <a:latin typeface="Calibri"/>
              </a:rPr>
              <a:t>Severity</a:t>
            </a:r>
          </a:p>
        </p:txBody>
      </p:sp>
      <p:sp>
        <p:nvSpPr>
          <p:cNvPr id="13" name="tx"/>
          <p:cNvSpPr>
            <a:spLocks noGrp="1"/>
          </p:cNvSpPr>
          <p:nvPr/>
        </p:nvSpPr>
        <p:spPr>
          <a:xfrm>
            <a:off x="6336792" y="2304287"/>
            <a:ext cx="4709160" cy="292608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200" b="0" i="0" dirty="0">
                <a:solidFill>
                  <a:srgbClr val="475569"/>
                </a:solidFill>
                <a:latin typeface="Calibri"/>
              </a:rPr>
              <a:t>High / Medium / Low — drives attention &amp; the Top Risks widget.</a:t>
            </a:r>
          </a:p>
        </p:txBody>
      </p:sp>
      <p:sp>
        <p:nvSpPr>
          <p:cNvPr id="14" name="bx"/>
          <p:cNvSpPr>
            <a:spLocks noGrp="1"/>
          </p:cNvSpPr>
          <p:nvPr/>
        </p:nvSpPr>
        <p:spPr>
          <a:xfrm>
            <a:off x="640080" y="2816351"/>
            <a:ext cx="51663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tx"/>
          <p:cNvSpPr>
            <a:spLocks noGrp="1"/>
          </p:cNvSpPr>
          <p:nvPr/>
        </p:nvSpPr>
        <p:spPr>
          <a:xfrm>
            <a:off x="896112" y="2935223"/>
            <a:ext cx="4709160" cy="32004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400" b="1" i="0" dirty="0">
                <a:solidFill>
                  <a:srgbClr val="0F172A"/>
                </a:solidFill>
                <a:latin typeface="Calibri"/>
              </a:rPr>
              <a:t>Status</a:t>
            </a:r>
          </a:p>
        </p:txBody>
      </p:sp>
      <p:sp>
        <p:nvSpPr>
          <p:cNvPr id="16" name="tx"/>
          <p:cNvSpPr>
            <a:spLocks noGrp="1"/>
          </p:cNvSpPr>
          <p:nvPr/>
        </p:nvSpPr>
        <p:spPr>
          <a:xfrm>
            <a:off x="896112" y="3246119"/>
            <a:ext cx="4709160" cy="292608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200" b="0" i="0" dirty="0">
                <a:solidFill>
                  <a:srgbClr val="475569"/>
                </a:solidFill>
                <a:latin typeface="Calibri"/>
              </a:rPr>
              <a:t>Open / In Progress / Closed.</a:t>
            </a:r>
          </a:p>
        </p:txBody>
      </p:sp>
      <p:sp>
        <p:nvSpPr>
          <p:cNvPr id="17" name="bx"/>
          <p:cNvSpPr>
            <a:spLocks noGrp="1"/>
          </p:cNvSpPr>
          <p:nvPr/>
        </p:nvSpPr>
        <p:spPr>
          <a:xfrm>
            <a:off x="6080760" y="2816351"/>
            <a:ext cx="51663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tx"/>
          <p:cNvSpPr>
            <a:spLocks noGrp="1"/>
          </p:cNvSpPr>
          <p:nvPr/>
        </p:nvSpPr>
        <p:spPr>
          <a:xfrm>
            <a:off x="6336792" y="2935223"/>
            <a:ext cx="4709160" cy="32004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400" b="1" i="0" dirty="0">
                <a:solidFill>
                  <a:srgbClr val="0F172A"/>
                </a:solidFill>
                <a:latin typeface="Calibri"/>
              </a:rPr>
              <a:t>Owner</a:t>
            </a:r>
          </a:p>
        </p:txBody>
      </p:sp>
      <p:sp>
        <p:nvSpPr>
          <p:cNvPr id="19" name="tx"/>
          <p:cNvSpPr>
            <a:spLocks noGrp="1"/>
          </p:cNvSpPr>
          <p:nvPr/>
        </p:nvSpPr>
        <p:spPr>
          <a:xfrm>
            <a:off x="6336792" y="3246119"/>
            <a:ext cx="4709160" cy="292608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200" b="0" i="0" dirty="0">
                <a:solidFill>
                  <a:srgbClr val="475569"/>
                </a:solidFill>
                <a:latin typeface="Calibri"/>
              </a:rPr>
              <a:t>A named person accountable — never blank.</a:t>
            </a:r>
          </a:p>
        </p:txBody>
      </p:sp>
      <p:sp>
        <p:nvSpPr>
          <p:cNvPr id="20" name="bx"/>
          <p:cNvSpPr>
            <a:spLocks noGrp="1"/>
          </p:cNvSpPr>
          <p:nvPr/>
        </p:nvSpPr>
        <p:spPr>
          <a:xfrm>
            <a:off x="640080" y="3758183"/>
            <a:ext cx="51663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tx"/>
          <p:cNvSpPr>
            <a:spLocks noGrp="1"/>
          </p:cNvSpPr>
          <p:nvPr/>
        </p:nvSpPr>
        <p:spPr>
          <a:xfrm>
            <a:off x="896112" y="3877055"/>
            <a:ext cx="4709160" cy="32004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400" b="1" i="0" dirty="0">
                <a:solidFill>
                  <a:srgbClr val="0F172A"/>
                </a:solidFill>
                <a:latin typeface="Calibri"/>
              </a:rPr>
              <a:t>Notes / mitigation</a:t>
            </a:r>
          </a:p>
        </p:txBody>
      </p:sp>
      <p:sp>
        <p:nvSpPr>
          <p:cNvPr id="22" name="tx"/>
          <p:cNvSpPr>
            <a:spLocks noGrp="1"/>
          </p:cNvSpPr>
          <p:nvPr/>
        </p:nvSpPr>
        <p:spPr>
          <a:xfrm>
            <a:off x="896112" y="4187951"/>
            <a:ext cx="4709160" cy="292608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200" b="0" i="0" dirty="0">
                <a:solidFill>
                  <a:srgbClr val="475569"/>
                </a:solidFill>
                <a:latin typeface="Calibri"/>
              </a:rPr>
              <a:t>What you're doing about it.</a:t>
            </a:r>
          </a:p>
        </p:txBody>
      </p:sp>
      <p:sp>
        <p:nvSpPr>
          <p:cNvPr id="23" name="bx"/>
          <p:cNvSpPr>
            <a:spLocks noGrp="1"/>
          </p:cNvSpPr>
          <p:nvPr/>
        </p:nvSpPr>
        <p:spPr>
          <a:xfrm>
            <a:off x="5852160" y="1874519"/>
            <a:ext cx="5577840" cy="245059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>
            <a:outerShdw blurRad="76200" dist="25400" dir="5400000">
              <a:srgbClr val="0F172A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tx"/>
          <p:cNvSpPr>
            <a:spLocks noGrp="1"/>
          </p:cNvSpPr>
          <p:nvPr/>
        </p:nvSpPr>
        <p:spPr>
          <a:xfrm>
            <a:off x="6126480" y="2084831"/>
            <a:ext cx="5029200" cy="36576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200" b="1" i="0" dirty="0">
                <a:solidFill>
                  <a:srgbClr val="FBBF24"/>
                </a:solidFill>
                <a:latin typeface="Calibri"/>
              </a:rPr>
              <a:t>GUARDRAILS</a:t>
            </a:r>
          </a:p>
        </p:txBody>
      </p:sp>
      <p:sp>
        <p:nvSpPr>
          <p:cNvPr id="25" name="tx"/>
          <p:cNvSpPr>
            <a:spLocks noGrp="1"/>
          </p:cNvSpPr>
          <p:nvPr/>
        </p:nvSpPr>
        <p:spPr>
          <a:xfrm>
            <a:off x="6126480" y="2468880"/>
            <a:ext cx="5029200" cy="178308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256032" indent="-256032">
              <a:spcAft>
                <a:spcPts val="700"/>
              </a:spcAft>
              <a:buClr>
                <a:srgbClr val="FBBF24"/>
              </a:buClr>
              <a:buChar char="●"/>
            </a:pPr>
            <a:r>
              <a:rPr lang="en-US" sz="1250" b="0" i="0" dirty="0">
                <a:solidFill>
                  <a:srgbClr val="E2E8F0"/>
                </a:solidFill>
                <a:latin typeface="Calibri"/>
              </a:rPr>
              <a:t>Raise risks EARLY — a surprise in Red is a governance failure.</a:t>
            </a:r>
          </a:p>
          <a:p>
            <a:pPr marL="256032" indent="-256032">
              <a:spcAft>
                <a:spcPts val="700"/>
              </a:spcAft>
              <a:buClr>
                <a:srgbClr val="FBBF24"/>
              </a:buClr>
              <a:buChar char="●"/>
            </a:pPr>
            <a:r>
              <a:rPr lang="en-US" sz="1250" b="0" i="0" dirty="0">
                <a:solidFill>
                  <a:srgbClr val="E2E8F0"/>
                </a:solidFill>
                <a:latin typeface="Calibri"/>
              </a:rPr>
              <a:t>Give every item an owner and a next action.</a:t>
            </a:r>
          </a:p>
          <a:p>
            <a:pPr marL="256032" indent="-256032">
              <a:spcAft>
                <a:spcPts val="700"/>
              </a:spcAft>
              <a:buClr>
                <a:srgbClr val="FBBF24"/>
              </a:buClr>
              <a:buChar char="●"/>
            </a:pPr>
            <a:r>
              <a:rPr lang="en-US" sz="1250" b="0" i="0" dirty="0">
                <a:solidFill>
                  <a:srgbClr val="E2E8F0"/>
                </a:solidFill>
                <a:latin typeface="Calibri"/>
              </a:rPr>
              <a:t>Close what's resolved — don't let the list grow a tail.</a:t>
            </a:r>
          </a:p>
          <a:p>
            <a:pPr marL="256032" indent="-256032">
              <a:spcAft>
                <a:spcPts val="0"/>
              </a:spcAft>
              <a:buClr>
                <a:srgbClr val="FBBF24"/>
              </a:buClr>
              <a:buChar char="●"/>
            </a:pPr>
            <a:r>
              <a:rPr lang="en-US" sz="1250" b="0" i="0" dirty="0">
                <a:solidFill>
                  <a:srgbClr val="E2E8F0"/>
                </a:solidFill>
                <a:latin typeface="Calibri"/>
              </a:rPr>
              <a:t>A live High risk should show up in the RAG.</a:t>
            </a:r>
          </a:p>
        </p:txBody>
      </p:sp>
      <p:sp>
        <p:nvSpPr>
          <p:cNvPr id="26" name="bx"/>
          <p:cNvSpPr>
            <a:spLocks noGrp="1"/>
          </p:cNvSpPr>
          <p:nvPr/>
        </p:nvSpPr>
        <p:spPr>
          <a:xfrm>
            <a:off x="640080" y="5074920"/>
            <a:ext cx="5166360" cy="777240"/>
          </a:xfrm>
          <a:prstGeom prst="roundRect">
            <a:avLst/>
          </a:prstGeom>
          <a:solidFill>
            <a:srgbClr val="E8ED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tx"/>
          <p:cNvSpPr>
            <a:spLocks noGrp="1"/>
          </p:cNvSpPr>
          <p:nvPr/>
        </p:nvSpPr>
        <p:spPr>
          <a:xfrm>
            <a:off x="914400" y="5074920"/>
            <a:ext cx="4663440" cy="77724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/>
            <a:r>
              <a:rPr lang="en-US" sz="1200" b="0" i="1" dirty="0">
                <a:solidFill>
                  <a:srgbClr val="1E293B"/>
                </a:solidFill>
                <a:latin typeface="Calibri"/>
              </a:rPr>
              <a:t>Codes (R-/I-) are assigned for you — focus on the substance, not the numbering.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x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c"/>
          <p:cNvSpPr>
            <a:spLocks noGrp="1"/>
          </p:cNvSpPr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c"/>
          <p:cNvSpPr>
            <a:spLocks noGrp="1"/>
          </p:cNvSpPr>
          <p:nvPr/>
        </p:nvSpPr>
        <p:spPr>
          <a:xfrm>
            <a:off x="841248" y="566928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c"/>
          <p:cNvSpPr>
            <a:spLocks noGrp="1"/>
          </p:cNvSpPr>
          <p:nvPr/>
        </p:nvSpPr>
        <p:spPr>
          <a:xfrm>
            <a:off x="1042416" y="566928"/>
            <a:ext cx="146304" cy="14630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tx"/>
          <p:cNvSpPr>
            <a:spLocks noGrp="1"/>
          </p:cNvSpPr>
          <p:nvPr/>
        </p:nvSpPr>
        <p:spPr>
          <a:xfrm>
            <a:off x="1097280" y="457200"/>
            <a:ext cx="10058400" cy="32004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200" b="1" i="0" dirty="0">
                <a:solidFill>
                  <a:srgbClr val="2563EB"/>
                </a:solidFill>
                <a:latin typeface="Calibri"/>
              </a:rPr>
              <a:t>THE NUMBERS</a:t>
            </a:r>
          </a:p>
        </p:txBody>
      </p:sp>
      <p:sp>
        <p:nvSpPr>
          <p:cNvPr id="7" name="tx"/>
          <p:cNvSpPr>
            <a:spLocks noGrp="1"/>
          </p:cNvSpPr>
          <p:nvPr/>
        </p:nvSpPr>
        <p:spPr>
          <a:xfrm>
            <a:off x="640080" y="777240"/>
            <a:ext cx="10972800" cy="82296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3000" b="1" i="0" dirty="0">
                <a:solidFill>
                  <a:srgbClr val="0F172A"/>
                </a:solidFill>
                <a:latin typeface="Cambria"/>
              </a:rPr>
              <a:t>Budget &amp; Schedule metrics</a:t>
            </a:r>
          </a:p>
        </p:txBody>
      </p:sp>
      <p:sp>
        <p:nvSpPr>
          <p:cNvPr id="8" name="bx"/>
          <p:cNvSpPr>
            <a:spLocks noGrp="1"/>
          </p:cNvSpPr>
          <p:nvPr/>
        </p:nvSpPr>
        <p:spPr>
          <a:xfrm>
            <a:off x="640080" y="1874519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>
              <a:srgbClr val="0F172A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x"/>
          <p:cNvSpPr>
            <a:spLocks noGrp="1"/>
          </p:cNvSpPr>
          <p:nvPr/>
        </p:nvSpPr>
        <p:spPr>
          <a:xfrm>
            <a:off x="896112" y="2075687"/>
            <a:ext cx="2971800" cy="50292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2600" b="1" i="0" dirty="0">
                <a:solidFill>
                  <a:srgbClr val="2563EB"/>
                </a:solidFill>
                <a:latin typeface="Cambria"/>
              </a:rPr>
              <a:t>BAC</a:t>
            </a:r>
          </a:p>
        </p:txBody>
      </p:sp>
      <p:sp>
        <p:nvSpPr>
          <p:cNvPr id="10" name="tx"/>
          <p:cNvSpPr>
            <a:spLocks noGrp="1"/>
          </p:cNvSpPr>
          <p:nvPr/>
        </p:nvSpPr>
        <p:spPr>
          <a:xfrm>
            <a:off x="896112" y="2624327"/>
            <a:ext cx="2971800" cy="292608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350" b="1" i="0" dirty="0">
                <a:solidFill>
                  <a:srgbClr val="0F172A"/>
                </a:solidFill>
                <a:latin typeface="Calibri"/>
              </a:rPr>
              <a:t>Budget at Completion</a:t>
            </a:r>
          </a:p>
        </p:txBody>
      </p:sp>
      <p:sp>
        <p:nvSpPr>
          <p:cNvPr id="11" name="tx"/>
          <p:cNvSpPr>
            <a:spLocks noGrp="1"/>
          </p:cNvSpPr>
          <p:nvPr/>
        </p:nvSpPr>
        <p:spPr>
          <a:xfrm>
            <a:off x="896112" y="2916934"/>
            <a:ext cx="2971800" cy="32004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100" b="0" i="0" dirty="0">
                <a:solidFill>
                  <a:srgbClr val="475569"/>
                </a:solidFill>
                <a:latin typeface="Calibri"/>
              </a:rPr>
              <a:t>The approved budget — your baseline.</a:t>
            </a:r>
          </a:p>
        </p:txBody>
      </p:sp>
      <p:sp>
        <p:nvSpPr>
          <p:cNvPr id="12" name="bx"/>
          <p:cNvSpPr>
            <a:spLocks noGrp="1"/>
          </p:cNvSpPr>
          <p:nvPr/>
        </p:nvSpPr>
        <p:spPr>
          <a:xfrm>
            <a:off x="4343400" y="1874519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>
              <a:srgbClr val="0F172A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x"/>
          <p:cNvSpPr>
            <a:spLocks noGrp="1"/>
          </p:cNvSpPr>
          <p:nvPr/>
        </p:nvSpPr>
        <p:spPr>
          <a:xfrm>
            <a:off x="4599432" y="2075687"/>
            <a:ext cx="2971800" cy="50292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2600" b="1" i="0" dirty="0">
                <a:solidFill>
                  <a:srgbClr val="2563EB"/>
                </a:solidFill>
                <a:latin typeface="Cambria"/>
              </a:rPr>
              <a:t>AC</a:t>
            </a:r>
          </a:p>
        </p:txBody>
      </p:sp>
      <p:sp>
        <p:nvSpPr>
          <p:cNvPr id="14" name="tx"/>
          <p:cNvSpPr>
            <a:spLocks noGrp="1"/>
          </p:cNvSpPr>
          <p:nvPr/>
        </p:nvSpPr>
        <p:spPr>
          <a:xfrm>
            <a:off x="4599432" y="2624327"/>
            <a:ext cx="2971800" cy="292608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350" b="1" i="0" dirty="0">
                <a:solidFill>
                  <a:srgbClr val="0F172A"/>
                </a:solidFill>
                <a:latin typeface="Calibri"/>
              </a:rPr>
              <a:t>Actual Spend</a:t>
            </a:r>
          </a:p>
        </p:txBody>
      </p:sp>
      <p:sp>
        <p:nvSpPr>
          <p:cNvPr id="15" name="tx"/>
          <p:cNvSpPr>
            <a:spLocks noGrp="1"/>
          </p:cNvSpPr>
          <p:nvPr/>
        </p:nvSpPr>
        <p:spPr>
          <a:xfrm>
            <a:off x="4599432" y="2916934"/>
            <a:ext cx="2971800" cy="32004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100" b="0" i="0" dirty="0">
                <a:solidFill>
                  <a:srgbClr val="475569"/>
                </a:solidFill>
                <a:latin typeface="Calibri"/>
              </a:rPr>
              <a:t>What's been spent to date.</a:t>
            </a:r>
          </a:p>
        </p:txBody>
      </p:sp>
      <p:sp>
        <p:nvSpPr>
          <p:cNvPr id="16" name="bx"/>
          <p:cNvSpPr>
            <a:spLocks noGrp="1"/>
          </p:cNvSpPr>
          <p:nvPr/>
        </p:nvSpPr>
        <p:spPr>
          <a:xfrm>
            <a:off x="8046720" y="1874519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>
              <a:srgbClr val="0F172A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x"/>
          <p:cNvSpPr>
            <a:spLocks noGrp="1"/>
          </p:cNvSpPr>
          <p:nvPr/>
        </p:nvSpPr>
        <p:spPr>
          <a:xfrm>
            <a:off x="8302752" y="2075687"/>
            <a:ext cx="2971800" cy="50292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2600" b="1" i="0" dirty="0">
                <a:solidFill>
                  <a:srgbClr val="2563EB"/>
                </a:solidFill>
                <a:latin typeface="Cambria"/>
              </a:rPr>
              <a:t>% Comp</a:t>
            </a:r>
          </a:p>
        </p:txBody>
      </p:sp>
      <p:sp>
        <p:nvSpPr>
          <p:cNvPr id="18" name="tx"/>
          <p:cNvSpPr>
            <a:spLocks noGrp="1"/>
          </p:cNvSpPr>
          <p:nvPr/>
        </p:nvSpPr>
        <p:spPr>
          <a:xfrm>
            <a:off x="8302752" y="2624327"/>
            <a:ext cx="2971800" cy="292608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350" b="1" i="0" dirty="0">
                <a:solidFill>
                  <a:srgbClr val="0F172A"/>
                </a:solidFill>
                <a:latin typeface="Calibri"/>
              </a:rPr>
              <a:t>Percent Complete</a:t>
            </a:r>
          </a:p>
        </p:txBody>
      </p:sp>
      <p:sp>
        <p:nvSpPr>
          <p:cNvPr id="19" name="tx"/>
          <p:cNvSpPr>
            <a:spLocks noGrp="1"/>
          </p:cNvSpPr>
          <p:nvPr/>
        </p:nvSpPr>
        <p:spPr>
          <a:xfrm>
            <a:off x="8302752" y="2916934"/>
            <a:ext cx="2971800" cy="32004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100" b="0" i="0" dirty="0">
                <a:solidFill>
                  <a:srgbClr val="475569"/>
                </a:solidFill>
                <a:latin typeface="Calibri"/>
              </a:rPr>
              <a:t>Physical progress of the work.</a:t>
            </a:r>
          </a:p>
        </p:txBody>
      </p:sp>
      <p:sp>
        <p:nvSpPr>
          <p:cNvPr id="20" name="bx"/>
          <p:cNvSpPr>
            <a:spLocks noGrp="1"/>
          </p:cNvSpPr>
          <p:nvPr/>
        </p:nvSpPr>
        <p:spPr>
          <a:xfrm>
            <a:off x="640080" y="3566159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>
              <a:srgbClr val="0F172A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tx"/>
          <p:cNvSpPr>
            <a:spLocks noGrp="1"/>
          </p:cNvSpPr>
          <p:nvPr/>
        </p:nvSpPr>
        <p:spPr>
          <a:xfrm>
            <a:off x="896112" y="3767327"/>
            <a:ext cx="2971800" cy="50292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2600" b="1" i="0" dirty="0">
                <a:solidFill>
                  <a:srgbClr val="2563EB"/>
                </a:solidFill>
                <a:latin typeface="Cambria"/>
              </a:rPr>
              <a:t>EAC</a:t>
            </a:r>
          </a:p>
        </p:txBody>
      </p:sp>
      <p:sp>
        <p:nvSpPr>
          <p:cNvPr id="22" name="tx"/>
          <p:cNvSpPr>
            <a:spLocks noGrp="1"/>
          </p:cNvSpPr>
          <p:nvPr/>
        </p:nvSpPr>
        <p:spPr>
          <a:xfrm>
            <a:off x="896112" y="4315967"/>
            <a:ext cx="2971800" cy="292608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350" b="1" i="0" dirty="0">
                <a:solidFill>
                  <a:srgbClr val="0F172A"/>
                </a:solidFill>
                <a:latin typeface="Calibri"/>
              </a:rPr>
              <a:t>Estimate at Completion</a:t>
            </a:r>
          </a:p>
        </p:txBody>
      </p:sp>
      <p:sp>
        <p:nvSpPr>
          <p:cNvPr id="23" name="tx"/>
          <p:cNvSpPr>
            <a:spLocks noGrp="1"/>
          </p:cNvSpPr>
          <p:nvPr/>
        </p:nvSpPr>
        <p:spPr>
          <a:xfrm>
            <a:off x="896112" y="4608574"/>
            <a:ext cx="2971800" cy="32004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100" b="0" i="0" dirty="0">
                <a:solidFill>
                  <a:srgbClr val="475569"/>
                </a:solidFill>
                <a:latin typeface="Calibri"/>
              </a:rPr>
              <a:t>Forecast total cost at today's run-rate.</a:t>
            </a:r>
          </a:p>
        </p:txBody>
      </p:sp>
      <p:sp>
        <p:nvSpPr>
          <p:cNvPr id="24" name="bx"/>
          <p:cNvSpPr>
            <a:spLocks noGrp="1"/>
          </p:cNvSpPr>
          <p:nvPr/>
        </p:nvSpPr>
        <p:spPr>
          <a:xfrm>
            <a:off x="4343400" y="3566159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>
              <a:srgbClr val="0F172A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tx"/>
          <p:cNvSpPr>
            <a:spLocks noGrp="1"/>
          </p:cNvSpPr>
          <p:nvPr/>
        </p:nvSpPr>
        <p:spPr>
          <a:xfrm>
            <a:off x="4599432" y="3767327"/>
            <a:ext cx="2971800" cy="50292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2600" b="1" i="0" dirty="0">
                <a:solidFill>
                  <a:srgbClr val="2563EB"/>
                </a:solidFill>
                <a:latin typeface="Cambria"/>
              </a:rPr>
              <a:t>Var</a:t>
            </a:r>
          </a:p>
        </p:txBody>
      </p:sp>
      <p:sp>
        <p:nvSpPr>
          <p:cNvPr id="26" name="tx"/>
          <p:cNvSpPr>
            <a:spLocks noGrp="1"/>
          </p:cNvSpPr>
          <p:nvPr/>
        </p:nvSpPr>
        <p:spPr>
          <a:xfrm>
            <a:off x="4599432" y="4315967"/>
            <a:ext cx="2971800" cy="292608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350" b="1" i="0" dirty="0">
                <a:solidFill>
                  <a:srgbClr val="0F172A"/>
                </a:solidFill>
                <a:latin typeface="Calibri"/>
              </a:rPr>
              <a:t>Budget / Schedule Variance</a:t>
            </a:r>
          </a:p>
        </p:txBody>
      </p:sp>
      <p:sp>
        <p:nvSpPr>
          <p:cNvPr id="27" name="tx"/>
          <p:cNvSpPr>
            <a:spLocks noGrp="1"/>
          </p:cNvSpPr>
          <p:nvPr/>
        </p:nvSpPr>
        <p:spPr>
          <a:xfrm>
            <a:off x="4599432" y="4608574"/>
            <a:ext cx="2971800" cy="32004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100" b="0" i="0" dirty="0">
                <a:solidFill>
                  <a:srgbClr val="475569"/>
                </a:solidFill>
                <a:latin typeface="Calibri"/>
              </a:rPr>
              <a:t>Plan vs. actual — the story behind the RAG.</a:t>
            </a:r>
          </a:p>
        </p:txBody>
      </p:sp>
      <p:sp>
        <p:nvSpPr>
          <p:cNvPr id="28" name="bx"/>
          <p:cNvSpPr>
            <a:spLocks noGrp="1"/>
          </p:cNvSpPr>
          <p:nvPr/>
        </p:nvSpPr>
        <p:spPr>
          <a:xfrm>
            <a:off x="8046720" y="3566159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>
              <a:srgbClr val="0F172A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tx"/>
          <p:cNvSpPr>
            <a:spLocks noGrp="1"/>
          </p:cNvSpPr>
          <p:nvPr/>
        </p:nvSpPr>
        <p:spPr>
          <a:xfrm>
            <a:off x="8302752" y="3767327"/>
            <a:ext cx="2971800" cy="50292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2600" b="1" i="0" dirty="0">
                <a:solidFill>
                  <a:srgbClr val="2563EB"/>
                </a:solidFill>
                <a:latin typeface="Cambria"/>
              </a:rPr>
              <a:t>Fcst</a:t>
            </a:r>
          </a:p>
        </p:txBody>
      </p:sp>
      <p:sp>
        <p:nvSpPr>
          <p:cNvPr id="30" name="tx"/>
          <p:cNvSpPr>
            <a:spLocks noGrp="1"/>
          </p:cNvSpPr>
          <p:nvPr/>
        </p:nvSpPr>
        <p:spPr>
          <a:xfrm>
            <a:off x="8302752" y="4315967"/>
            <a:ext cx="2971800" cy="292608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350" b="1" i="0" dirty="0">
                <a:solidFill>
                  <a:srgbClr val="0F172A"/>
                </a:solidFill>
                <a:latin typeface="Calibri"/>
              </a:rPr>
              <a:t>Forecast Finish</a:t>
            </a:r>
          </a:p>
        </p:txBody>
      </p:sp>
      <p:sp>
        <p:nvSpPr>
          <p:cNvPr id="31" name="tx"/>
          <p:cNvSpPr>
            <a:spLocks noGrp="1"/>
          </p:cNvSpPr>
          <p:nvPr/>
        </p:nvSpPr>
        <p:spPr>
          <a:xfrm>
            <a:off x="8302752" y="4608574"/>
            <a:ext cx="2971800" cy="32004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100" b="0" i="0" dirty="0">
                <a:solidFill>
                  <a:srgbClr val="475569"/>
                </a:solidFill>
                <a:latin typeface="Calibri"/>
              </a:rPr>
              <a:t>When it will really land vs. baseline.</a:t>
            </a:r>
          </a:p>
        </p:txBody>
      </p:sp>
      <p:sp>
        <p:nvSpPr>
          <p:cNvPr id="32" name="tx"/>
          <p:cNvSpPr>
            <a:spLocks noGrp="1"/>
          </p:cNvSpPr>
          <p:nvPr/>
        </p:nvSpPr>
        <p:spPr>
          <a:xfrm>
            <a:off x="640080" y="5989320"/>
            <a:ext cx="10789920" cy="36576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250" b="0" i="1" dirty="0">
                <a:solidFill>
                  <a:srgbClr val="64748B"/>
                </a:solidFill>
                <a:latin typeface="Calibri"/>
              </a:rPr>
              <a:t>Enter actuals honestly — they feed Budget &amp; Schedule health and the executive view. The app computes the variances.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x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c"/>
          <p:cNvSpPr>
            <a:spLocks noGrp="1"/>
          </p:cNvSpPr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c"/>
          <p:cNvSpPr>
            <a:spLocks noGrp="1"/>
          </p:cNvSpPr>
          <p:nvPr/>
        </p:nvSpPr>
        <p:spPr>
          <a:xfrm>
            <a:off x="841248" y="566928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c"/>
          <p:cNvSpPr>
            <a:spLocks noGrp="1"/>
          </p:cNvSpPr>
          <p:nvPr/>
        </p:nvSpPr>
        <p:spPr>
          <a:xfrm>
            <a:off x="1042416" y="566928"/>
            <a:ext cx="146304" cy="14630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tx"/>
          <p:cNvSpPr>
            <a:spLocks noGrp="1"/>
          </p:cNvSpPr>
          <p:nvPr/>
        </p:nvSpPr>
        <p:spPr>
          <a:xfrm>
            <a:off x="1097280" y="457200"/>
            <a:ext cx="10058400" cy="32004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200" b="1" i="0" dirty="0">
                <a:solidFill>
                  <a:srgbClr val="2563EB"/>
                </a:solidFill>
                <a:latin typeface="Calibri"/>
              </a:rPr>
              <a:t>WORKFLOW</a:t>
            </a:r>
          </a:p>
        </p:txBody>
      </p:sp>
      <p:sp>
        <p:nvSpPr>
          <p:cNvPr id="7" name="tx"/>
          <p:cNvSpPr>
            <a:spLocks noGrp="1"/>
          </p:cNvSpPr>
          <p:nvPr/>
        </p:nvSpPr>
        <p:spPr>
          <a:xfrm>
            <a:off x="640080" y="777240"/>
            <a:ext cx="10972800" cy="82296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3000" b="1" i="0" dirty="0">
                <a:solidFill>
                  <a:srgbClr val="0F172A"/>
                </a:solidFill>
                <a:latin typeface="Cambria"/>
              </a:rPr>
              <a:t>Submit → Review → (Complete)</a:t>
            </a:r>
          </a:p>
        </p:txBody>
      </p:sp>
      <p:sp>
        <p:nvSpPr>
          <p:cNvPr id="8" name="bx"/>
          <p:cNvSpPr>
            <a:spLocks noGrp="1"/>
          </p:cNvSpPr>
          <p:nvPr/>
        </p:nvSpPr>
        <p:spPr>
          <a:xfrm>
            <a:off x="640080" y="1920240"/>
            <a:ext cx="35204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>
              <a:srgbClr val="0F172A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c"/>
          <p:cNvSpPr>
            <a:spLocks noGrp="1"/>
          </p:cNvSpPr>
          <p:nvPr/>
        </p:nvSpPr>
        <p:spPr>
          <a:xfrm>
            <a:off x="914400" y="2212848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tx"/>
          <p:cNvSpPr>
            <a:spLocks noGrp="1"/>
          </p:cNvSpPr>
          <p:nvPr/>
        </p:nvSpPr>
        <p:spPr>
          <a:xfrm>
            <a:off x="1371600" y="2176272"/>
            <a:ext cx="2606040" cy="36576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700" b="1" i="0" dirty="0">
                <a:solidFill>
                  <a:srgbClr val="0F172A"/>
                </a:solidFill>
                <a:latin typeface="Cambria"/>
              </a:rPr>
              <a:t>Submit</a:t>
            </a:r>
          </a:p>
        </p:txBody>
      </p:sp>
      <p:sp>
        <p:nvSpPr>
          <p:cNvPr id="11" name="tx"/>
          <p:cNvSpPr>
            <a:spLocks noGrp="1"/>
          </p:cNvSpPr>
          <p:nvPr/>
        </p:nvSpPr>
        <p:spPr>
          <a:xfrm>
            <a:off x="932688" y="2743200"/>
            <a:ext cx="2971800" cy="82296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250" b="0" i="0" dirty="0">
                <a:solidFill>
                  <a:srgbClr val="475569"/>
                </a:solidFill>
                <a:latin typeface="Calibri"/>
              </a:rPr>
              <a:t>Report goes to Pending Review and routes to the approver(s).</a:t>
            </a:r>
          </a:p>
        </p:txBody>
      </p:sp>
      <p:sp>
        <p:nvSpPr>
          <p:cNvPr id="12" name="bx"/>
          <p:cNvSpPr>
            <a:spLocks noGrp="1"/>
          </p:cNvSpPr>
          <p:nvPr/>
        </p:nvSpPr>
        <p:spPr>
          <a:xfrm>
            <a:off x="4416552" y="1920240"/>
            <a:ext cx="35204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>
              <a:srgbClr val="0F172A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c"/>
          <p:cNvSpPr>
            <a:spLocks noGrp="1"/>
          </p:cNvSpPr>
          <p:nvPr/>
        </p:nvSpPr>
        <p:spPr>
          <a:xfrm>
            <a:off x="4690872" y="2212848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tx"/>
          <p:cNvSpPr>
            <a:spLocks noGrp="1"/>
          </p:cNvSpPr>
          <p:nvPr/>
        </p:nvSpPr>
        <p:spPr>
          <a:xfrm>
            <a:off x="5148072" y="2176272"/>
            <a:ext cx="2606040" cy="36576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700" b="1" i="0" dirty="0">
                <a:solidFill>
                  <a:srgbClr val="0F172A"/>
                </a:solidFill>
                <a:latin typeface="Cambria"/>
              </a:rPr>
              <a:t>Approved</a:t>
            </a:r>
          </a:p>
        </p:txBody>
      </p:sp>
      <p:sp>
        <p:nvSpPr>
          <p:cNvPr id="15" name="tx"/>
          <p:cNvSpPr>
            <a:spLocks noGrp="1"/>
          </p:cNvSpPr>
          <p:nvPr/>
        </p:nvSpPr>
        <p:spPr>
          <a:xfrm>
            <a:off x="4709160" y="2743200"/>
            <a:ext cx="2971800" cy="82296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250" b="0" i="0" dirty="0">
                <a:solidFill>
                  <a:srgbClr val="475569"/>
                </a:solidFill>
                <a:latin typeface="Calibri"/>
              </a:rPr>
              <a:t>All approvers sign off — the week is done and rolls up as Approved.</a:t>
            </a:r>
          </a:p>
        </p:txBody>
      </p:sp>
      <p:sp>
        <p:nvSpPr>
          <p:cNvPr id="16" name="bx"/>
          <p:cNvSpPr>
            <a:spLocks noGrp="1"/>
          </p:cNvSpPr>
          <p:nvPr/>
        </p:nvSpPr>
        <p:spPr>
          <a:xfrm>
            <a:off x="8193024" y="1920240"/>
            <a:ext cx="35204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>
              <a:srgbClr val="0F172A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c"/>
          <p:cNvSpPr>
            <a:spLocks noGrp="1"/>
          </p:cNvSpPr>
          <p:nvPr/>
        </p:nvSpPr>
        <p:spPr>
          <a:xfrm>
            <a:off x="8467344" y="2212848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tx"/>
          <p:cNvSpPr>
            <a:spLocks noGrp="1"/>
          </p:cNvSpPr>
          <p:nvPr/>
        </p:nvSpPr>
        <p:spPr>
          <a:xfrm>
            <a:off x="8924544" y="2176272"/>
            <a:ext cx="2606040" cy="36576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700" b="1" i="0" dirty="0">
                <a:solidFill>
                  <a:srgbClr val="0F172A"/>
                </a:solidFill>
                <a:latin typeface="Cambria"/>
              </a:rPr>
              <a:t>Changes Requested</a:t>
            </a:r>
          </a:p>
        </p:txBody>
      </p:sp>
      <p:sp>
        <p:nvSpPr>
          <p:cNvPr id="19" name="tx"/>
          <p:cNvSpPr>
            <a:spLocks noGrp="1"/>
          </p:cNvSpPr>
          <p:nvPr/>
        </p:nvSpPr>
        <p:spPr>
          <a:xfrm>
            <a:off x="8485632" y="2743200"/>
            <a:ext cx="2971800" cy="82296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250" b="0" i="0" dirty="0">
                <a:solidFill>
                  <a:srgbClr val="475569"/>
                </a:solidFill>
                <a:latin typeface="Calibri"/>
              </a:rPr>
              <a:t>Sent back with remarks — fix and re-submit (it re-enters the queue).</a:t>
            </a:r>
          </a:p>
        </p:txBody>
      </p:sp>
      <p:sp>
        <p:nvSpPr>
          <p:cNvPr id="20" name="bx"/>
          <p:cNvSpPr>
            <a:spLocks noGrp="1"/>
          </p:cNvSpPr>
          <p:nvPr/>
        </p:nvSpPr>
        <p:spPr>
          <a:xfrm>
            <a:off x="640080" y="3977639"/>
            <a:ext cx="10789920" cy="1874519"/>
          </a:xfrm>
          <a:prstGeom prst="roundRect">
            <a:avLst/>
          </a:prstGeom>
          <a:solidFill>
            <a:srgbClr val="0F172A"/>
          </a:solidFill>
          <a:ln>
            <a:noFill/>
          </a:ln>
          <a:effectLst>
            <a:outerShdw blurRad="76200" dist="25400" dir="5400000">
              <a:srgbClr val="0F172A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tx"/>
          <p:cNvSpPr>
            <a:spLocks noGrp="1"/>
          </p:cNvSpPr>
          <p:nvPr/>
        </p:nvSpPr>
        <p:spPr>
          <a:xfrm>
            <a:off x="914400" y="4178807"/>
            <a:ext cx="10058400" cy="41148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300" b="1" i="0" dirty="0">
                <a:solidFill>
                  <a:srgbClr val="FBBF24"/>
                </a:solidFill>
                <a:latin typeface="Calibri"/>
              </a:rPr>
              <a:t>COMPLETING A PROJECT</a:t>
            </a:r>
          </a:p>
        </p:txBody>
      </p:sp>
      <p:sp>
        <p:nvSpPr>
          <p:cNvPr id="22" name="tx"/>
          <p:cNvSpPr>
            <a:spLocks noGrp="1"/>
          </p:cNvSpPr>
          <p:nvPr/>
        </p:nvSpPr>
        <p:spPr>
          <a:xfrm>
            <a:off x="914400" y="4571999"/>
            <a:ext cx="10241280" cy="118872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256032" indent="-256032">
              <a:spcAft>
                <a:spcPts val="700"/>
              </a:spcAft>
              <a:buClr>
                <a:srgbClr val="FBBF24"/>
              </a:buClr>
              <a:buChar char="●"/>
            </a:pPr>
            <a:r>
              <a:rPr lang="en-US" sz="1350" b="0" i="0" dirty="0">
                <a:solidFill>
                  <a:srgbClr val="E2E8F0"/>
                </a:solidFill>
                <a:latin typeface="Calibri"/>
              </a:rPr>
              <a:t>When every milestone is Completed, submitting offers “Submit for Completion” — this REQUESTS completion, it doesn't close the project.</a:t>
            </a:r>
          </a:p>
          <a:p>
            <a:pPr marL="256032" indent="-256032">
              <a:spcAft>
                <a:spcPts val="0"/>
              </a:spcAft>
              <a:buClr>
                <a:srgbClr val="FBBF24"/>
              </a:buClr>
              <a:buChar char="●"/>
            </a:pPr>
            <a:r>
              <a:rPr lang="en-US" sz="1350" b="0" i="0" dirty="0">
                <a:solidFill>
                  <a:srgbClr val="E2E8F0"/>
                </a:solidFill>
                <a:latin typeface="Calibri"/>
              </a:rPr>
              <a:t>The approver then sees Decline / Approve. Approve (on final sign-off) marks the project Completed; Decline sends it back.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x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c"/>
          <p:cNvSpPr>
            <a:spLocks noGrp="1"/>
          </p:cNvSpPr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c"/>
          <p:cNvSpPr>
            <a:spLocks noGrp="1"/>
          </p:cNvSpPr>
          <p:nvPr/>
        </p:nvSpPr>
        <p:spPr>
          <a:xfrm>
            <a:off x="841248" y="566928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c"/>
          <p:cNvSpPr>
            <a:spLocks noGrp="1"/>
          </p:cNvSpPr>
          <p:nvPr/>
        </p:nvSpPr>
        <p:spPr>
          <a:xfrm>
            <a:off x="1042416" y="566928"/>
            <a:ext cx="146304" cy="14630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tx"/>
          <p:cNvSpPr>
            <a:spLocks noGrp="1"/>
          </p:cNvSpPr>
          <p:nvPr/>
        </p:nvSpPr>
        <p:spPr>
          <a:xfrm>
            <a:off x="1097280" y="457200"/>
            <a:ext cx="10058400" cy="32004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200" b="1" i="0" dirty="0">
                <a:solidFill>
                  <a:srgbClr val="2563EB"/>
                </a:solidFill>
                <a:latin typeface="Calibri"/>
              </a:rPr>
              <a:t>VISIBILITY</a:t>
            </a:r>
          </a:p>
        </p:txBody>
      </p:sp>
      <p:sp>
        <p:nvSpPr>
          <p:cNvPr id="7" name="tx"/>
          <p:cNvSpPr>
            <a:spLocks noGrp="1"/>
          </p:cNvSpPr>
          <p:nvPr/>
        </p:nvSpPr>
        <p:spPr>
          <a:xfrm>
            <a:off x="640080" y="777240"/>
            <a:ext cx="10972800" cy="82296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3000" b="1" i="0" dirty="0">
                <a:solidFill>
                  <a:srgbClr val="0F172A"/>
                </a:solidFill>
                <a:latin typeface="Cambria"/>
              </a:rPr>
              <a:t>Compliance &amp; the executive view</a:t>
            </a:r>
          </a:p>
        </p:txBody>
      </p:sp>
      <p:sp>
        <p:nvSpPr>
          <p:cNvPr id="8" name="bx"/>
          <p:cNvSpPr>
            <a:spLocks noGrp="1"/>
          </p:cNvSpPr>
          <p:nvPr/>
        </p:nvSpPr>
        <p:spPr>
          <a:xfrm>
            <a:off x="640080" y="1874519"/>
            <a:ext cx="3520440" cy="1051560"/>
          </a:xfrm>
          <a:prstGeom prst="roundRect">
            <a:avLst/>
          </a:prstGeom>
          <a:solidFill>
            <a:srgbClr val="E2F6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c"/>
          <p:cNvSpPr>
            <a:spLocks noGrp="1"/>
          </p:cNvSpPr>
          <p:nvPr/>
        </p:nvSpPr>
        <p:spPr>
          <a:xfrm>
            <a:off x="914400" y="2240279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tx"/>
          <p:cNvSpPr>
            <a:spLocks noGrp="1"/>
          </p:cNvSpPr>
          <p:nvPr/>
        </p:nvSpPr>
        <p:spPr>
          <a:xfrm>
            <a:off x="1417320" y="1874519"/>
            <a:ext cx="2606040" cy="105156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/>
            <a:r>
              <a:rPr lang="en-US" sz="1500" b="1" i="0" dirty="0">
                <a:solidFill>
                  <a:srgbClr val="0F172A"/>
                </a:solidFill>
                <a:latin typeface="Calibri"/>
              </a:rPr>
              <a:t>Completed / Submitted</a:t>
            </a:r>
          </a:p>
        </p:txBody>
      </p:sp>
      <p:sp>
        <p:nvSpPr>
          <p:cNvPr id="11" name="bx"/>
          <p:cNvSpPr>
            <a:spLocks noGrp="1"/>
          </p:cNvSpPr>
          <p:nvPr/>
        </p:nvSpPr>
        <p:spPr>
          <a:xfrm>
            <a:off x="4416552" y="1874519"/>
            <a:ext cx="3520440" cy="1051560"/>
          </a:xfrm>
          <a:prstGeom prst="roundRect">
            <a:avLst/>
          </a:prstGeom>
          <a:solidFill>
            <a:srgbClr val="FDF3D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c"/>
          <p:cNvSpPr>
            <a:spLocks noGrp="1"/>
          </p:cNvSpPr>
          <p:nvPr/>
        </p:nvSpPr>
        <p:spPr>
          <a:xfrm>
            <a:off x="4690872" y="2240279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tx"/>
          <p:cNvSpPr>
            <a:spLocks noGrp="1"/>
          </p:cNvSpPr>
          <p:nvPr/>
        </p:nvSpPr>
        <p:spPr>
          <a:xfrm>
            <a:off x="5193792" y="1874519"/>
            <a:ext cx="2606040" cy="105156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/>
            <a:r>
              <a:rPr lang="en-US" sz="1500" b="1" i="0" dirty="0">
                <a:solidFill>
                  <a:srgbClr val="0F172A"/>
                </a:solidFill>
                <a:latin typeface="Calibri"/>
              </a:rPr>
              <a:t>Pending Review</a:t>
            </a:r>
          </a:p>
        </p:txBody>
      </p:sp>
      <p:sp>
        <p:nvSpPr>
          <p:cNvPr id="14" name="bx"/>
          <p:cNvSpPr>
            <a:spLocks noGrp="1"/>
          </p:cNvSpPr>
          <p:nvPr/>
        </p:nvSpPr>
        <p:spPr>
          <a:xfrm>
            <a:off x="8193024" y="1874519"/>
            <a:ext cx="3520440" cy="1051560"/>
          </a:xfrm>
          <a:prstGeom prst="roundRect">
            <a:avLst/>
          </a:prstGeom>
          <a:solidFill>
            <a:srgbClr val="FBEA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c"/>
          <p:cNvSpPr>
            <a:spLocks noGrp="1"/>
          </p:cNvSpPr>
          <p:nvPr/>
        </p:nvSpPr>
        <p:spPr>
          <a:xfrm>
            <a:off x="8467344" y="2240279"/>
            <a:ext cx="310896" cy="31089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tx"/>
          <p:cNvSpPr>
            <a:spLocks noGrp="1"/>
          </p:cNvSpPr>
          <p:nvPr/>
        </p:nvSpPr>
        <p:spPr>
          <a:xfrm>
            <a:off x="8970264" y="1874519"/>
            <a:ext cx="2606040" cy="105156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/>
            <a:r>
              <a:rPr lang="en-US" sz="1500" b="1" i="0" dirty="0">
                <a:solidFill>
                  <a:srgbClr val="0F172A"/>
                </a:solidFill>
                <a:latin typeface="Calibri"/>
              </a:rPr>
              <a:t>Not Submitted</a:t>
            </a:r>
          </a:p>
        </p:txBody>
      </p:sp>
      <p:sp>
        <p:nvSpPr>
          <p:cNvPr id="17" name="tx"/>
          <p:cNvSpPr>
            <a:spLocks noGrp="1"/>
          </p:cNvSpPr>
          <p:nvPr/>
        </p:nvSpPr>
        <p:spPr>
          <a:xfrm>
            <a:off x="640080" y="3108960"/>
            <a:ext cx="10789920" cy="36576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250" b="0" i="1" dirty="0">
                <a:solidFill>
                  <a:srgbClr val="475569"/>
                </a:solidFill>
                <a:latin typeface="Calibri"/>
              </a:rPr>
              <a:t>Compliance tracks whether every due project reported this cycle. “Not Submitted” is visible to leadership — don't be on it.</a:t>
            </a:r>
          </a:p>
        </p:txBody>
      </p:sp>
      <p:sp>
        <p:nvSpPr>
          <p:cNvPr id="18" name="tx"/>
          <p:cNvSpPr>
            <a:spLocks noGrp="1"/>
          </p:cNvSpPr>
          <p:nvPr/>
        </p:nvSpPr>
        <p:spPr>
          <a:xfrm>
            <a:off x="640080" y="3657600"/>
            <a:ext cx="10789920" cy="32004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200" b="1" i="0" dirty="0">
                <a:solidFill>
                  <a:srgbClr val="64748B"/>
                </a:solidFill>
                <a:latin typeface="Calibri"/>
              </a:rPr>
              <a:t>WHAT THE EXECUTIVE DASHBOARD SHOWS</a:t>
            </a:r>
          </a:p>
        </p:txBody>
      </p:sp>
      <p:sp>
        <p:nvSpPr>
          <p:cNvPr id="19" name="bx"/>
          <p:cNvSpPr>
            <a:spLocks noGrp="1"/>
          </p:cNvSpPr>
          <p:nvPr/>
        </p:nvSpPr>
        <p:spPr>
          <a:xfrm>
            <a:off x="640080" y="4069080"/>
            <a:ext cx="5303520" cy="5669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c"/>
          <p:cNvSpPr>
            <a:spLocks noGrp="1"/>
          </p:cNvSpPr>
          <p:nvPr/>
        </p:nvSpPr>
        <p:spPr>
          <a:xfrm>
            <a:off x="868680" y="4288536"/>
            <a:ext cx="128016" cy="1280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tx"/>
          <p:cNvSpPr>
            <a:spLocks noGrp="1"/>
          </p:cNvSpPr>
          <p:nvPr/>
        </p:nvSpPr>
        <p:spPr>
          <a:xfrm>
            <a:off x="1188720" y="4069080"/>
            <a:ext cx="4572000" cy="566928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/>
            <a:r>
              <a:rPr lang="en-US" sz="1250" b="0" i="0" dirty="0">
                <a:solidFill>
                  <a:srgbClr val="1E293B"/>
                </a:solidFill>
                <a:latin typeface="Calibri"/>
              </a:rPr>
              <a:t>Portfolio RAG (Active / Green / Amber / Red)</a:t>
            </a:r>
          </a:p>
        </p:txBody>
      </p:sp>
      <p:sp>
        <p:nvSpPr>
          <p:cNvPr id="22" name="bx"/>
          <p:cNvSpPr>
            <a:spLocks noGrp="1"/>
          </p:cNvSpPr>
          <p:nvPr/>
        </p:nvSpPr>
        <p:spPr>
          <a:xfrm>
            <a:off x="6126480" y="4069080"/>
            <a:ext cx="5303520" cy="5669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c"/>
          <p:cNvSpPr>
            <a:spLocks noGrp="1"/>
          </p:cNvSpPr>
          <p:nvPr/>
        </p:nvSpPr>
        <p:spPr>
          <a:xfrm>
            <a:off x="6355080" y="4288536"/>
            <a:ext cx="128016" cy="1280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tx"/>
          <p:cNvSpPr>
            <a:spLocks noGrp="1"/>
          </p:cNvSpPr>
          <p:nvPr/>
        </p:nvSpPr>
        <p:spPr>
          <a:xfrm>
            <a:off x="6675120" y="4069080"/>
            <a:ext cx="4572000" cy="566928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/>
            <a:r>
              <a:rPr lang="en-US" sz="1250" b="0" i="0" dirty="0">
                <a:solidFill>
                  <a:srgbClr val="1E293B"/>
                </a:solidFill>
                <a:latin typeface="Calibri"/>
              </a:rPr>
              <a:t>Projects by BU &amp; Health by category</a:t>
            </a:r>
          </a:p>
        </p:txBody>
      </p:sp>
      <p:sp>
        <p:nvSpPr>
          <p:cNvPr id="25" name="bx"/>
          <p:cNvSpPr>
            <a:spLocks noGrp="1"/>
          </p:cNvSpPr>
          <p:nvPr/>
        </p:nvSpPr>
        <p:spPr>
          <a:xfrm>
            <a:off x="640080" y="4764024"/>
            <a:ext cx="5303520" cy="5669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c"/>
          <p:cNvSpPr>
            <a:spLocks noGrp="1"/>
          </p:cNvSpPr>
          <p:nvPr/>
        </p:nvSpPr>
        <p:spPr>
          <a:xfrm>
            <a:off x="868680" y="4983480"/>
            <a:ext cx="128016" cy="1280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tx"/>
          <p:cNvSpPr>
            <a:spLocks noGrp="1"/>
          </p:cNvSpPr>
          <p:nvPr/>
        </p:nvSpPr>
        <p:spPr>
          <a:xfrm>
            <a:off x="1188720" y="4764024"/>
            <a:ext cx="4572000" cy="566928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/>
            <a:r>
              <a:rPr lang="en-US" sz="1250" b="0" i="0" dirty="0">
                <a:solidFill>
                  <a:srgbClr val="1E293B"/>
                </a:solidFill>
                <a:latin typeface="Calibri"/>
              </a:rPr>
              <a:t>Projects requiring executive attention</a:t>
            </a:r>
          </a:p>
        </p:txBody>
      </p:sp>
      <p:sp>
        <p:nvSpPr>
          <p:cNvPr id="28" name="bx"/>
          <p:cNvSpPr>
            <a:spLocks noGrp="1"/>
          </p:cNvSpPr>
          <p:nvPr/>
        </p:nvSpPr>
        <p:spPr>
          <a:xfrm>
            <a:off x="6126480" y="4764024"/>
            <a:ext cx="5303520" cy="5669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c"/>
          <p:cNvSpPr>
            <a:spLocks noGrp="1"/>
          </p:cNvSpPr>
          <p:nvPr/>
        </p:nvSpPr>
        <p:spPr>
          <a:xfrm>
            <a:off x="6355080" y="4983480"/>
            <a:ext cx="128016" cy="1280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" name="tx"/>
          <p:cNvSpPr>
            <a:spLocks noGrp="1"/>
          </p:cNvSpPr>
          <p:nvPr/>
        </p:nvSpPr>
        <p:spPr>
          <a:xfrm>
            <a:off x="6675120" y="4764024"/>
            <a:ext cx="4572000" cy="566928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/>
            <a:r>
              <a:rPr lang="en-US" sz="1250" b="0" i="0" dirty="0">
                <a:solidFill>
                  <a:srgbClr val="1E293B"/>
                </a:solidFill>
                <a:latin typeface="Calibri"/>
              </a:rPr>
              <a:t>Weekly reporting compliance</a:t>
            </a:r>
          </a:p>
        </p:txBody>
      </p:sp>
      <p:sp>
        <p:nvSpPr>
          <p:cNvPr id="31" name="bx"/>
          <p:cNvSpPr>
            <a:spLocks noGrp="1"/>
          </p:cNvSpPr>
          <p:nvPr/>
        </p:nvSpPr>
        <p:spPr>
          <a:xfrm>
            <a:off x="640080" y="5458968"/>
            <a:ext cx="5303520" cy="5669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" name="c"/>
          <p:cNvSpPr>
            <a:spLocks noGrp="1"/>
          </p:cNvSpPr>
          <p:nvPr/>
        </p:nvSpPr>
        <p:spPr>
          <a:xfrm>
            <a:off x="868680" y="5678424"/>
            <a:ext cx="128016" cy="1280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" name="tx"/>
          <p:cNvSpPr>
            <a:spLocks noGrp="1"/>
          </p:cNvSpPr>
          <p:nvPr/>
        </p:nvSpPr>
        <p:spPr>
          <a:xfrm>
            <a:off x="1188720" y="5458968"/>
            <a:ext cx="4572000" cy="566928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/>
            <a:r>
              <a:rPr lang="en-US" sz="1250" b="0" i="0" dirty="0">
                <a:solidFill>
                  <a:srgbClr val="1E293B"/>
                </a:solidFill>
                <a:latin typeface="Calibri"/>
              </a:rPr>
              <a:t>Top risks this week</a:t>
            </a:r>
          </a:p>
        </p:txBody>
      </p:sp>
      <p:sp>
        <p:nvSpPr>
          <p:cNvPr id="34" name="bx"/>
          <p:cNvSpPr>
            <a:spLocks noGrp="1"/>
          </p:cNvSpPr>
          <p:nvPr/>
        </p:nvSpPr>
        <p:spPr>
          <a:xfrm>
            <a:off x="6126480" y="5458968"/>
            <a:ext cx="5303520" cy="5669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" name="c"/>
          <p:cNvSpPr>
            <a:spLocks noGrp="1"/>
          </p:cNvSpPr>
          <p:nvPr/>
        </p:nvSpPr>
        <p:spPr>
          <a:xfrm>
            <a:off x="6355080" y="5678424"/>
            <a:ext cx="128016" cy="1280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6" name="tx"/>
          <p:cNvSpPr>
            <a:spLocks noGrp="1"/>
          </p:cNvSpPr>
          <p:nvPr/>
        </p:nvSpPr>
        <p:spPr>
          <a:xfrm>
            <a:off x="6675120" y="5458968"/>
            <a:ext cx="4572000" cy="566928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/>
            <a:r>
              <a:rPr lang="en-US" sz="1250" b="0" i="0" dirty="0">
                <a:solidFill>
                  <a:srgbClr val="1E293B"/>
                </a:solidFill>
                <a:latin typeface="Calibri"/>
              </a:rPr>
              <a:t>Upcoming milestones (next 5 days)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x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c"/>
          <p:cNvSpPr>
            <a:spLocks noGrp="1"/>
          </p:cNvSpPr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c"/>
          <p:cNvSpPr>
            <a:spLocks noGrp="1"/>
          </p:cNvSpPr>
          <p:nvPr/>
        </p:nvSpPr>
        <p:spPr>
          <a:xfrm>
            <a:off x="841248" y="566928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c"/>
          <p:cNvSpPr>
            <a:spLocks noGrp="1"/>
          </p:cNvSpPr>
          <p:nvPr/>
        </p:nvSpPr>
        <p:spPr>
          <a:xfrm>
            <a:off x="1042416" y="566928"/>
            <a:ext cx="146304" cy="14630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tx"/>
          <p:cNvSpPr>
            <a:spLocks noGrp="1"/>
          </p:cNvSpPr>
          <p:nvPr/>
        </p:nvSpPr>
        <p:spPr>
          <a:xfrm>
            <a:off x="1097280" y="457200"/>
            <a:ext cx="10058400" cy="32004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200" b="1" i="0" dirty="0">
                <a:solidFill>
                  <a:srgbClr val="2563EB"/>
                </a:solidFill>
                <a:latin typeface="Calibri"/>
              </a:rPr>
              <a:t>QUICK REFERENCE</a:t>
            </a:r>
          </a:p>
        </p:txBody>
      </p:sp>
      <p:sp>
        <p:nvSpPr>
          <p:cNvPr id="7" name="tx"/>
          <p:cNvSpPr>
            <a:spLocks noGrp="1"/>
          </p:cNvSpPr>
          <p:nvPr/>
        </p:nvSpPr>
        <p:spPr>
          <a:xfrm>
            <a:off x="640080" y="777240"/>
            <a:ext cx="10972800" cy="82296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3000" b="1" i="0" dirty="0">
                <a:solidFill>
                  <a:srgbClr val="0F172A"/>
                </a:solidFill>
                <a:latin typeface="Cambria"/>
              </a:rPr>
              <a:t>PM guardrails — do's &amp; don'ts</a:t>
            </a:r>
          </a:p>
        </p:txBody>
      </p:sp>
      <p:sp>
        <p:nvSpPr>
          <p:cNvPr id="8" name="bx"/>
          <p:cNvSpPr>
            <a:spLocks noGrp="1"/>
          </p:cNvSpPr>
          <p:nvPr/>
        </p:nvSpPr>
        <p:spPr>
          <a:xfrm>
            <a:off x="640080" y="1874519"/>
            <a:ext cx="5257800" cy="3977639"/>
          </a:xfrm>
          <a:prstGeom prst="roundRect">
            <a:avLst/>
          </a:prstGeom>
          <a:solidFill>
            <a:srgbClr val="E2F6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tx"/>
          <p:cNvSpPr>
            <a:spLocks noGrp="1"/>
          </p:cNvSpPr>
          <p:nvPr/>
        </p:nvSpPr>
        <p:spPr>
          <a:xfrm>
            <a:off x="914400" y="2084831"/>
            <a:ext cx="4709160" cy="41148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10B981"/>
                </a:solidFill>
                <a:latin typeface="Cambria"/>
              </a:rPr>
              <a:t>DO</a:t>
            </a:r>
          </a:p>
        </p:txBody>
      </p:sp>
      <p:sp>
        <p:nvSpPr>
          <p:cNvPr id="10" name="tx"/>
          <p:cNvSpPr>
            <a:spLocks noGrp="1"/>
          </p:cNvSpPr>
          <p:nvPr/>
        </p:nvSpPr>
        <p:spPr>
          <a:xfrm>
            <a:off x="914400" y="2651760"/>
            <a:ext cx="4709160" cy="310896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256032" indent="-256032">
              <a:spcAft>
                <a:spcPts val="1100"/>
              </a:spcAft>
              <a:buClr>
                <a:srgbClr val="10B981"/>
              </a:buClr>
              <a:buChar char="●"/>
            </a:pPr>
            <a:r>
              <a:rPr lang="en-US" sz="1350" b="0" i="0" dirty="0">
                <a:solidFill>
                  <a:srgbClr val="1E293B"/>
                </a:solidFill>
                <a:latin typeface="Calibri"/>
              </a:rPr>
              <a:t>File every week, on time</a:t>
            </a:r>
          </a:p>
          <a:p>
            <a:pPr marL="256032" indent="-256032">
              <a:spcAft>
                <a:spcPts val="1100"/>
              </a:spcAft>
              <a:buClr>
                <a:srgbClr val="10B981"/>
              </a:buClr>
              <a:buChar char="●"/>
            </a:pPr>
            <a:r>
              <a:rPr lang="en-US" sz="1350" b="0" i="0" dirty="0">
                <a:solidFill>
                  <a:srgbClr val="1E293B"/>
                </a:solidFill>
                <a:latin typeface="Calibri"/>
              </a:rPr>
              <a:t>Rate RAG honestly — amber early beats red late</a:t>
            </a:r>
          </a:p>
          <a:p>
            <a:pPr marL="256032" indent="-256032">
              <a:spcAft>
                <a:spcPts val="1100"/>
              </a:spcAft>
              <a:buClr>
                <a:srgbClr val="10B981"/>
              </a:buClr>
              <a:buChar char="●"/>
            </a:pPr>
            <a:r>
              <a:rPr lang="en-US" sz="1350" b="0" i="0" dirty="0">
                <a:solidFill>
                  <a:srgbClr val="1E293B"/>
                </a:solidFill>
                <a:latin typeface="Calibri"/>
              </a:rPr>
              <a:t>Comment on every non-Green indicator</a:t>
            </a:r>
          </a:p>
          <a:p>
            <a:pPr marL="256032" indent="-256032">
              <a:spcAft>
                <a:spcPts val="1100"/>
              </a:spcAft>
              <a:buClr>
                <a:srgbClr val="10B981"/>
              </a:buClr>
              <a:buChar char="●"/>
            </a:pPr>
            <a:r>
              <a:rPr lang="en-US" sz="1350" b="0" i="0" dirty="0">
                <a:solidFill>
                  <a:srgbClr val="1E293B"/>
                </a:solidFill>
                <a:latin typeface="Calibri"/>
              </a:rPr>
              <a:t>Keep milestones, dates &amp; risks current</a:t>
            </a:r>
          </a:p>
          <a:p>
            <a:pPr marL="256032" indent="-256032">
              <a:spcAft>
                <a:spcPts val="1100"/>
              </a:spcAft>
              <a:buClr>
                <a:srgbClr val="10B981"/>
              </a:buClr>
              <a:buChar char="●"/>
            </a:pPr>
            <a:r>
              <a:rPr lang="en-US" sz="1350" b="0" i="0" dirty="0">
                <a:solidFill>
                  <a:srgbClr val="1E293B"/>
                </a:solidFill>
                <a:latin typeface="Calibri"/>
              </a:rPr>
              <a:t>Give every risk an owner and next step</a:t>
            </a:r>
          </a:p>
          <a:p>
            <a:pPr marL="256032" indent="-256032">
              <a:spcAft>
                <a:spcPts val="0"/>
              </a:spcAft>
              <a:buClr>
                <a:srgbClr val="10B981"/>
              </a:buClr>
              <a:buChar char="●"/>
            </a:pPr>
            <a:r>
              <a:rPr lang="en-US" sz="1350" b="0" i="0" dirty="0">
                <a:solidFill>
                  <a:srgbClr val="1E293B"/>
                </a:solidFill>
                <a:latin typeface="Calibri"/>
              </a:rPr>
              <a:t>Raise issues before they surprise anyone</a:t>
            </a:r>
          </a:p>
        </p:txBody>
      </p:sp>
      <p:sp>
        <p:nvSpPr>
          <p:cNvPr id="11" name="bx"/>
          <p:cNvSpPr>
            <a:spLocks noGrp="1"/>
          </p:cNvSpPr>
          <p:nvPr/>
        </p:nvSpPr>
        <p:spPr>
          <a:xfrm>
            <a:off x="6172200" y="1874519"/>
            <a:ext cx="5257800" cy="3977639"/>
          </a:xfrm>
          <a:prstGeom prst="roundRect">
            <a:avLst/>
          </a:prstGeom>
          <a:solidFill>
            <a:srgbClr val="FBEA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tx"/>
          <p:cNvSpPr>
            <a:spLocks noGrp="1"/>
          </p:cNvSpPr>
          <p:nvPr/>
        </p:nvSpPr>
        <p:spPr>
          <a:xfrm>
            <a:off x="6446520" y="2084831"/>
            <a:ext cx="4709160" cy="41148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EF4444"/>
                </a:solidFill>
                <a:latin typeface="Cambria"/>
              </a:rPr>
              <a:t>DON'T</a:t>
            </a:r>
          </a:p>
        </p:txBody>
      </p:sp>
      <p:sp>
        <p:nvSpPr>
          <p:cNvPr id="13" name="tx"/>
          <p:cNvSpPr>
            <a:spLocks noGrp="1"/>
          </p:cNvSpPr>
          <p:nvPr/>
        </p:nvSpPr>
        <p:spPr>
          <a:xfrm>
            <a:off x="6446520" y="2651760"/>
            <a:ext cx="4709160" cy="310896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256032" indent="-256032">
              <a:spcAft>
                <a:spcPts val="1100"/>
              </a:spcAft>
              <a:buClr>
                <a:srgbClr val="EF4444"/>
              </a:buClr>
              <a:buChar char="●"/>
            </a:pPr>
            <a:r>
              <a:rPr lang="en-US" sz="1350" b="0" i="0" dirty="0">
                <a:solidFill>
                  <a:srgbClr val="1E293B"/>
                </a:solidFill>
                <a:latin typeface="Calibri"/>
              </a:rPr>
              <a:t>Skip a week or back-fill closed ones</a:t>
            </a:r>
          </a:p>
          <a:p>
            <a:pPr marL="256032" indent="-256032">
              <a:spcAft>
                <a:spcPts val="1100"/>
              </a:spcAft>
              <a:buClr>
                <a:srgbClr val="EF4444"/>
              </a:buClr>
              <a:buChar char="●"/>
            </a:pPr>
            <a:r>
              <a:rPr lang="en-US" sz="1350" b="0" i="0" dirty="0">
                <a:solidFill>
                  <a:srgbClr val="1E293B"/>
                </a:solidFill>
                <a:latin typeface="Calibri"/>
              </a:rPr>
              <a:t>Leave Amber / Red without a comment</a:t>
            </a:r>
          </a:p>
          <a:p>
            <a:pPr marL="256032" indent="-256032">
              <a:spcAft>
                <a:spcPts val="1100"/>
              </a:spcAft>
              <a:buClr>
                <a:srgbClr val="EF4444"/>
              </a:buClr>
              <a:buChar char="●"/>
            </a:pPr>
            <a:r>
              <a:rPr lang="en-US" sz="1350" b="0" i="0" dirty="0">
                <a:solidFill>
                  <a:srgbClr val="1E293B"/>
                </a:solidFill>
                <a:latin typeface="Calibri"/>
              </a:rPr>
              <a:t>Mark milestones done prematurely (they lock)</a:t>
            </a:r>
          </a:p>
          <a:p>
            <a:pPr marL="256032" indent="-256032">
              <a:spcAft>
                <a:spcPts val="1100"/>
              </a:spcAft>
              <a:buClr>
                <a:srgbClr val="EF4444"/>
              </a:buClr>
              <a:buChar char="●"/>
            </a:pPr>
            <a:r>
              <a:rPr lang="en-US" sz="1350" b="0" i="0" dirty="0">
                <a:solidFill>
                  <a:srgbClr val="1E293B"/>
                </a:solidFill>
                <a:latin typeface="Calibri"/>
              </a:rPr>
              <a:t>Fudge the overall health headline</a:t>
            </a:r>
          </a:p>
          <a:p>
            <a:pPr marL="256032" indent="-256032">
              <a:spcAft>
                <a:spcPts val="1100"/>
              </a:spcAft>
              <a:buClr>
                <a:srgbClr val="EF4444"/>
              </a:buClr>
              <a:buChar char="●"/>
            </a:pPr>
            <a:r>
              <a:rPr lang="en-US" sz="1350" b="0" i="0" dirty="0">
                <a:solidFill>
                  <a:srgbClr val="1E293B"/>
                </a:solidFill>
                <a:latin typeface="Calibri"/>
              </a:rPr>
              <a:t>Let closed risks linger on the register</a:t>
            </a:r>
          </a:p>
          <a:p>
            <a:pPr marL="256032" indent="-256032">
              <a:spcAft>
                <a:spcPts val="0"/>
              </a:spcAft>
              <a:buClr>
                <a:srgbClr val="EF4444"/>
              </a:buClr>
              <a:buChar char="●"/>
            </a:pPr>
            <a:r>
              <a:rPr lang="en-US" sz="1350" b="0" i="0" dirty="0">
                <a:solidFill>
                  <a:srgbClr val="1E293B"/>
                </a:solidFill>
                <a:latin typeface="Calibri"/>
              </a:rPr>
              <a:t>File empty accomplishments / next steps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x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c"/>
          <p:cNvSpPr>
            <a:spLocks noGrp="1"/>
          </p:cNvSpPr>
          <p:nvPr/>
        </p:nvSpPr>
        <p:spPr>
          <a:xfrm>
            <a:off x="822960" y="960120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c"/>
          <p:cNvSpPr>
            <a:spLocks noGrp="1"/>
          </p:cNvSpPr>
          <p:nvPr/>
        </p:nvSpPr>
        <p:spPr>
          <a:xfrm>
            <a:off x="1024128" y="960120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c"/>
          <p:cNvSpPr>
            <a:spLocks noGrp="1"/>
          </p:cNvSpPr>
          <p:nvPr/>
        </p:nvSpPr>
        <p:spPr>
          <a:xfrm>
            <a:off x="1225296" y="960120"/>
            <a:ext cx="146304" cy="14630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tx"/>
          <p:cNvSpPr>
            <a:spLocks noGrp="1"/>
          </p:cNvSpPr>
          <p:nvPr/>
        </p:nvSpPr>
        <p:spPr>
          <a:xfrm>
            <a:off x="822960" y="1280160"/>
            <a:ext cx="10058400" cy="82296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3400" b="1" i="0" dirty="0">
                <a:solidFill>
                  <a:srgbClr val="FFFFFF"/>
                </a:solidFill>
                <a:latin typeface="Cambria"/>
              </a:rPr>
              <a:t>The habit that keeps delivery honest</a:t>
            </a:r>
          </a:p>
        </p:txBody>
      </p:sp>
      <p:sp>
        <p:nvSpPr>
          <p:cNvPr id="7" name="tx"/>
          <p:cNvSpPr>
            <a:spLocks noGrp="1"/>
          </p:cNvSpPr>
          <p:nvPr/>
        </p:nvSpPr>
        <p:spPr>
          <a:xfrm>
            <a:off x="822960" y="2331720"/>
            <a:ext cx="10058400" cy="4572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500" b="0" i="1" dirty="0">
                <a:solidFill>
                  <a:srgbClr val="CBD5E1"/>
                </a:solidFill>
                <a:latin typeface="Calibri"/>
              </a:rPr>
              <a:t>Report weekly. Rate honestly. Keep the plan and register current. Ask for help in amber, not red.</a:t>
            </a:r>
          </a:p>
        </p:txBody>
      </p:sp>
      <p:sp>
        <p:nvSpPr>
          <p:cNvPr id="8" name="bx"/>
          <p:cNvSpPr>
            <a:spLocks noGrp="1"/>
          </p:cNvSpPr>
          <p:nvPr/>
        </p:nvSpPr>
        <p:spPr>
          <a:xfrm>
            <a:off x="822960" y="3291840"/>
            <a:ext cx="3291840" cy="1828800"/>
          </a:xfrm>
          <a:prstGeom prst="roundRect">
            <a:avLst/>
          </a:prstGeom>
          <a:solidFill>
            <a:srgbClr val="1723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tx"/>
          <p:cNvSpPr>
            <a:spLocks noGrp="1"/>
          </p:cNvSpPr>
          <p:nvPr/>
        </p:nvSpPr>
        <p:spPr>
          <a:xfrm>
            <a:off x="1143000" y="3611880"/>
            <a:ext cx="2651760" cy="73152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3000" b="1" i="0" dirty="0">
                <a:solidFill>
                  <a:srgbClr val="FBBF24"/>
                </a:solidFill>
                <a:latin typeface="Cambria"/>
              </a:rPr>
              <a:t>1 report</a:t>
            </a:r>
          </a:p>
        </p:txBody>
      </p:sp>
      <p:sp>
        <p:nvSpPr>
          <p:cNvPr id="10" name="tx"/>
          <p:cNvSpPr>
            <a:spLocks noGrp="1"/>
          </p:cNvSpPr>
          <p:nvPr/>
        </p:nvSpPr>
        <p:spPr>
          <a:xfrm>
            <a:off x="1143000" y="4434840"/>
            <a:ext cx="2651760" cy="64008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CBD5E1"/>
                </a:solidFill>
                <a:latin typeface="Calibri"/>
              </a:rPr>
              <a:t>per project, every week</a:t>
            </a:r>
          </a:p>
        </p:txBody>
      </p:sp>
      <p:sp>
        <p:nvSpPr>
          <p:cNvPr id="11" name="bx"/>
          <p:cNvSpPr>
            <a:spLocks noGrp="1"/>
          </p:cNvSpPr>
          <p:nvPr/>
        </p:nvSpPr>
        <p:spPr>
          <a:xfrm>
            <a:off x="4434840" y="3291840"/>
            <a:ext cx="3291840" cy="1828800"/>
          </a:xfrm>
          <a:prstGeom prst="roundRect">
            <a:avLst/>
          </a:prstGeom>
          <a:solidFill>
            <a:srgbClr val="1723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tx"/>
          <p:cNvSpPr>
            <a:spLocks noGrp="1"/>
          </p:cNvSpPr>
          <p:nvPr/>
        </p:nvSpPr>
        <p:spPr>
          <a:xfrm>
            <a:off x="4754880" y="3611880"/>
            <a:ext cx="2651760" cy="73152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3000" b="1" i="0" dirty="0">
                <a:solidFill>
                  <a:srgbClr val="FBBF24"/>
                </a:solidFill>
                <a:latin typeface="Cambria"/>
              </a:rPr>
              <a:t>6 areas</a:t>
            </a:r>
          </a:p>
        </p:txBody>
      </p:sp>
      <p:sp>
        <p:nvSpPr>
          <p:cNvPr id="13" name="tx"/>
          <p:cNvSpPr>
            <a:spLocks noGrp="1"/>
          </p:cNvSpPr>
          <p:nvPr/>
        </p:nvSpPr>
        <p:spPr>
          <a:xfrm>
            <a:off x="4754880" y="4434840"/>
            <a:ext cx="2651760" cy="64008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CBD5E1"/>
                </a:solidFill>
                <a:latin typeface="Calibri"/>
              </a:rPr>
              <a:t>RAG, with comments when not green</a:t>
            </a:r>
          </a:p>
        </p:txBody>
      </p:sp>
      <p:sp>
        <p:nvSpPr>
          <p:cNvPr id="14" name="bx"/>
          <p:cNvSpPr>
            <a:spLocks noGrp="1"/>
          </p:cNvSpPr>
          <p:nvPr/>
        </p:nvSpPr>
        <p:spPr>
          <a:xfrm>
            <a:off x="8046720" y="3291840"/>
            <a:ext cx="3291840" cy="1828800"/>
          </a:xfrm>
          <a:prstGeom prst="roundRect">
            <a:avLst/>
          </a:prstGeom>
          <a:solidFill>
            <a:srgbClr val="1723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tx"/>
          <p:cNvSpPr>
            <a:spLocks noGrp="1"/>
          </p:cNvSpPr>
          <p:nvPr/>
        </p:nvSpPr>
        <p:spPr>
          <a:xfrm>
            <a:off x="8366760" y="3611880"/>
            <a:ext cx="2651760" cy="73152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3000" b="1" i="0" dirty="0">
                <a:solidFill>
                  <a:srgbClr val="FBBF24"/>
                </a:solidFill>
                <a:latin typeface="Cambria"/>
              </a:rPr>
              <a:t>1 truth</a:t>
            </a:r>
          </a:p>
        </p:txBody>
      </p:sp>
      <p:sp>
        <p:nvSpPr>
          <p:cNvPr id="16" name="tx"/>
          <p:cNvSpPr>
            <a:spLocks noGrp="1"/>
          </p:cNvSpPr>
          <p:nvPr/>
        </p:nvSpPr>
        <p:spPr>
          <a:xfrm>
            <a:off x="8366760" y="4434840"/>
            <a:ext cx="2651760" cy="64008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CBD5E1"/>
                </a:solidFill>
                <a:latin typeface="Calibri"/>
              </a:rPr>
              <a:t>your report is what leadership sees</a:t>
            </a:r>
          </a:p>
        </p:txBody>
      </p:sp>
      <p:sp>
        <p:nvSpPr>
          <p:cNvPr id="17" name="tx"/>
          <p:cNvSpPr>
            <a:spLocks noGrp="1"/>
          </p:cNvSpPr>
          <p:nvPr/>
        </p:nvSpPr>
        <p:spPr>
          <a:xfrm>
            <a:off x="822960" y="5852160"/>
            <a:ext cx="10058400" cy="36576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en-US" sz="1200" b="1" i="0" dirty="0">
                <a:solidFill>
                  <a:srgbClr val="64748B"/>
                </a:solidFill>
                <a:latin typeface="Calibri"/>
              </a:rPr>
              <a:t>One Delivery Management System  ·  ODMS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DMS">
  <a:themeElements>
    <a:clrScheme name="Office">
      <a:dk1>
        <a:sysClr val="windowText" lastClr="000000"/>
      </a:dk1>
      <a:lt1>
        <a:sysClr val="window" lastClr="FFFFFF"/>
      </a:lt1>
      <a:dk2>
        <a:srgbClr val="1E293B"/>
      </a:dk2>
      <a:lt2>
        <a:srgbClr val="F1F5F9"/>
      </a:lt2>
      <a:accent1>
        <a:srgbClr val="2563EB"/>
      </a:accent1>
      <a:accent2>
        <a:srgbClr val="10B981"/>
      </a:accent2>
      <a:accent3>
        <a:srgbClr val="F59E0B"/>
      </a:accent3>
      <a:accent4>
        <a:srgbClr val="EF4444"/>
      </a:accent4>
      <a:accent5>
        <a:srgbClr val="0F172A"/>
      </a:accent5>
      <a:accent6>
        <a:srgbClr val="64748B"/>
      </a:accent6>
      <a:hlink>
        <a:srgbClr val="2563EB"/>
      </a:hlink>
      <a:folHlink>
        <a:srgbClr val="7C3AED"/>
      </a:folHlink>
    </a:clrScheme>
    <a:fontScheme name="Office">
      <a:majorFont>
        <a:latin typeface="Cambri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1355</Words>
  <Application>Microsoft Office PowerPoint</Application>
  <PresentationFormat>Widescreen</PresentationFormat>
  <Paragraphs>228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ODMS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Samuel IV N. Amor</cp:lastModifiedBy>
  <cp:revision>1</cp:revision>
  <dcterms:modified xsi:type="dcterms:W3CDTF">2026-07-29T02:08:42Z</dcterms:modified>
</cp:coreProperties>
</file>